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8" r:id="rId1"/>
  </p:sldMasterIdLst>
  <p:notesMasterIdLst>
    <p:notesMasterId r:id="rId13"/>
  </p:notesMasterIdLst>
  <p:sldIdLst>
    <p:sldId id="256" r:id="rId2"/>
    <p:sldId id="257" r:id="rId3"/>
    <p:sldId id="258" r:id="rId4"/>
    <p:sldId id="274" r:id="rId5"/>
    <p:sldId id="269" r:id="rId6"/>
    <p:sldId id="276" r:id="rId7"/>
    <p:sldId id="259" r:id="rId8"/>
    <p:sldId id="278" r:id="rId9"/>
    <p:sldId id="268" r:id="rId10"/>
    <p:sldId id="262" r:id="rId11"/>
    <p:sldId id="263" r:id="rId12"/>
  </p:sldIdLst>
  <p:sldSz cx="14630400" cy="8229600"/>
  <p:notesSz cx="8229600" cy="14630400"/>
  <p:embeddedFontLs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Libre Baskerville" panose="02000000000000000000" pitchFamily="2" charset="0"/>
      <p:regular r:id="rId18"/>
      <p:bold r:id="rId19"/>
      <p:italic r:id="rId20"/>
    </p:embeddedFont>
    <p:embeddedFont>
      <p:font typeface="Poppins" panose="00000500000000000000" pitchFamily="2" charset="0"/>
      <p:regular r:id="rId21"/>
    </p:embeddedFont>
    <p:embeddedFont>
      <p:font typeface="Quattrocento" panose="02020502030000000404" pitchFamily="18" charset="0"/>
      <p:regular r:id="rId22"/>
      <p:bold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Source Sans Pro" panose="020B0503030403020204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D38F294-78C7-4DEC-A8B9-B4AD0DE1344A}">
          <p14:sldIdLst>
            <p14:sldId id="256"/>
            <p14:sldId id="257"/>
            <p14:sldId id="258"/>
          </p14:sldIdLst>
        </p14:section>
        <p14:section name="Untitled Section" id="{F817DCB5-7B23-4820-A7F3-625F61C60EF1}">
          <p14:sldIdLst>
            <p14:sldId id="274"/>
            <p14:sldId id="269"/>
          </p14:sldIdLst>
        </p14:section>
        <p14:section name="Untitled Section" id="{C08AA05E-ED25-4A51-B88C-2DABC1E4C65E}">
          <p14:sldIdLst>
            <p14:sldId id="276"/>
            <p14:sldId id="259"/>
            <p14:sldId id="278"/>
            <p14:sldId id="268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B8FF"/>
    <a:srgbClr val="7E90B8"/>
    <a:srgbClr val="46577E"/>
    <a:srgbClr val="6D82AF"/>
    <a:srgbClr val="ACBABC"/>
    <a:srgbClr val="9FE58F"/>
    <a:srgbClr val="DEDA8E"/>
    <a:srgbClr val="DEC4D5"/>
    <a:srgbClr val="2C1C8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66AFCE-888D-43C3-81DE-4C25B29A4506}" v="490" dt="2024-10-02T13:44:30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195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03270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954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7994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1491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8455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6198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8573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37511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03075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4990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5327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328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04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710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928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1944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1906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7646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6" r:id="rId16"/>
    <p:sldLayoutId id="2147483697" r:id="rId17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10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microsoft.com/office/2007/relationships/hdphoto" Target="../media/hdphoto4.wdp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microsoft.com/office/2007/relationships/hdphoto" Target="../media/hdphoto6.wdp"/><Relationship Id="rId5" Type="http://schemas.openxmlformats.org/officeDocument/2006/relationships/image" Target="../media/image13.png"/><Relationship Id="rId10" Type="http://schemas.microsoft.com/office/2007/relationships/hdphoto" Target="../media/hdphoto8.wdp"/><Relationship Id="rId4" Type="http://schemas.microsoft.com/office/2007/relationships/hdphoto" Target="../media/hdphoto5.wdp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C1C36FBC-805C-C241-E346-2961BE6DEAA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8A60FC9-2C15-FE0F-6A06-F787E47402D5}"/>
              </a:ext>
            </a:extLst>
          </p:cNvPr>
          <p:cNvSpPr/>
          <p:nvPr/>
        </p:nvSpPr>
        <p:spPr>
          <a:xfrm>
            <a:off x="0" y="-20691"/>
            <a:ext cx="14630400" cy="82243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 0"/>
          <p:cNvSpPr/>
          <p:nvPr/>
        </p:nvSpPr>
        <p:spPr>
          <a:xfrm>
            <a:off x="539337" y="2533407"/>
            <a:ext cx="979565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650"/>
              </a:lnSpc>
              <a:buNone/>
            </a:pPr>
            <a:r>
              <a:rPr lang="en-US" sz="6600" b="1" dirty="0">
                <a:solidFill>
                  <a:srgbClr val="97B8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iOS Event Planning App</a:t>
            </a:r>
            <a:endParaRPr lang="en-US" sz="6600" b="1" dirty="0">
              <a:solidFill>
                <a:srgbClr val="97B8FF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30735" y="3964957"/>
            <a:ext cx="9612860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This presentation outlines the development approach for an iOS application designed to help users effortlessly plan and manage events, streamlining the process from guest list creation to budget management.</a:t>
            </a:r>
            <a:endParaRPr lang="en-US" sz="2400" b="1" dirty="0"/>
          </a:p>
        </p:txBody>
      </p:sp>
      <p:sp>
        <p:nvSpPr>
          <p:cNvPr id="5" name="Shape 2"/>
          <p:cNvSpPr/>
          <p:nvPr/>
        </p:nvSpPr>
        <p:spPr>
          <a:xfrm>
            <a:off x="10794683" y="7098901"/>
            <a:ext cx="655320" cy="597337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683" y="7069910"/>
            <a:ext cx="655320" cy="655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26687" y="6928604"/>
            <a:ext cx="1165265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endParaRPr lang="en-US" sz="2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705790-3D6B-C573-602C-D9880FBD122F}"/>
              </a:ext>
            </a:extLst>
          </p:cNvPr>
          <p:cNvSpPr txBox="1"/>
          <p:nvPr/>
        </p:nvSpPr>
        <p:spPr>
          <a:xfrm>
            <a:off x="11531918" y="6890513"/>
            <a:ext cx="3098482" cy="913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400" b="1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by Priyanka Pal</a:t>
            </a:r>
          </a:p>
          <a:p>
            <a:pPr marL="0" indent="0" algn="l">
              <a:lnSpc>
                <a:spcPts val="3250"/>
              </a:lnSpc>
              <a:buNone/>
            </a:pPr>
            <a:r>
              <a:rPr lang="en-US" sz="2400" b="1" dirty="0" err="1">
                <a:latin typeface="Source Sans Pro" pitchFamily="34" charset="0"/>
                <a:ea typeface="Source Sans Pro" pitchFamily="34" charset="-122"/>
              </a:rPr>
              <a:t>B.Tech</a:t>
            </a:r>
            <a:r>
              <a:rPr lang="en-US" sz="2400" b="1" dirty="0">
                <a:latin typeface="Source Sans Pro" pitchFamily="34" charset="0"/>
                <a:ea typeface="Source Sans Pro" pitchFamily="34" charset="-122"/>
              </a:rPr>
              <a:t> CSD 3</a:t>
            </a:r>
            <a:r>
              <a:rPr lang="en-US" sz="2400" b="1" baseline="30000" dirty="0">
                <a:latin typeface="Source Sans Pro" pitchFamily="34" charset="0"/>
                <a:ea typeface="Source Sans Pro" pitchFamily="34" charset="-122"/>
              </a:rPr>
              <a:t>rd</a:t>
            </a:r>
            <a:r>
              <a:rPr lang="en-US" sz="2400" b="1" dirty="0">
                <a:latin typeface="Source Sans Pro" pitchFamily="34" charset="0"/>
                <a:ea typeface="Source Sans Pro" pitchFamily="34" charset="-122"/>
              </a:rPr>
              <a:t> Year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038" y="617815"/>
            <a:ext cx="6099215" cy="572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Approach to Building the App</a:t>
            </a:r>
            <a:endParaRPr lang="en-US" sz="3600" b="1" dirty="0">
              <a:solidFill>
                <a:srgbClr val="6D82AF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303770" y="1579245"/>
            <a:ext cx="22860" cy="6032421"/>
          </a:xfrm>
          <a:prstGeom prst="roundRect">
            <a:avLst>
              <a:gd name="adj" fmla="val 127688"/>
            </a:avLst>
          </a:prstGeom>
          <a:solidFill>
            <a:srgbClr val="6D82AF"/>
          </a:solidFill>
          <a:ln>
            <a:solidFill>
              <a:srgbClr val="6D82AF"/>
            </a:solidFill>
          </a:ln>
        </p:spPr>
      </p:sp>
      <p:sp>
        <p:nvSpPr>
          <p:cNvPr id="4" name="Shape 2"/>
          <p:cNvSpPr/>
          <p:nvPr/>
        </p:nvSpPr>
        <p:spPr>
          <a:xfrm>
            <a:off x="6438126" y="2005489"/>
            <a:ext cx="681038" cy="22860"/>
          </a:xfrm>
          <a:prstGeom prst="roundRect">
            <a:avLst>
              <a:gd name="adj" fmla="val 127688"/>
            </a:avLst>
          </a:prstGeom>
          <a:solidFill>
            <a:srgbClr val="6D82AF"/>
          </a:solidFill>
          <a:ln>
            <a:solidFill>
              <a:srgbClr val="6D82AF"/>
            </a:solidFill>
          </a:ln>
        </p:spPr>
      </p:sp>
      <p:sp>
        <p:nvSpPr>
          <p:cNvPr id="5" name="Shape 3"/>
          <p:cNvSpPr/>
          <p:nvPr/>
        </p:nvSpPr>
        <p:spPr>
          <a:xfrm>
            <a:off x="7096304" y="1798082"/>
            <a:ext cx="437793" cy="437793"/>
          </a:xfrm>
          <a:prstGeom prst="roundRect">
            <a:avLst>
              <a:gd name="adj" fmla="val 6667"/>
            </a:avLst>
          </a:prstGeom>
          <a:solidFill>
            <a:srgbClr val="6D82AF"/>
          </a:solidFill>
          <a:ln>
            <a:solidFill>
              <a:srgbClr val="6D82AF"/>
            </a:solidFill>
          </a:ln>
        </p:spPr>
      </p:sp>
      <p:sp>
        <p:nvSpPr>
          <p:cNvPr id="6" name="Text 4"/>
          <p:cNvSpPr/>
          <p:nvPr/>
        </p:nvSpPr>
        <p:spPr>
          <a:xfrm>
            <a:off x="7266563" y="1879640"/>
            <a:ext cx="9727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2666554" y="1837509"/>
            <a:ext cx="3667839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Ideation &amp; Requirements Gathering</a:t>
            </a:r>
            <a:endParaRPr lang="en-US" sz="2000" b="1" dirty="0">
              <a:solidFill>
                <a:srgbClr val="6D82A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81038" y="2176582"/>
            <a:ext cx="5563910" cy="62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Thoroughly understand user needs and event planning pain points. Define core features and functionalities.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11236" y="2978348"/>
            <a:ext cx="681038" cy="22860"/>
          </a:xfrm>
          <a:prstGeom prst="roundRect">
            <a:avLst>
              <a:gd name="adj" fmla="val 127688"/>
            </a:avLst>
          </a:prstGeom>
          <a:solidFill>
            <a:srgbClr val="6D82AF"/>
          </a:solidFill>
          <a:ln>
            <a:solidFill>
              <a:srgbClr val="6D82AF"/>
            </a:solidFill>
          </a:ln>
        </p:spPr>
      </p:sp>
      <p:sp>
        <p:nvSpPr>
          <p:cNvPr id="10" name="Shape 8"/>
          <p:cNvSpPr/>
          <p:nvPr/>
        </p:nvSpPr>
        <p:spPr>
          <a:xfrm>
            <a:off x="7096304" y="2770942"/>
            <a:ext cx="437793" cy="437793"/>
          </a:xfrm>
          <a:prstGeom prst="roundRect">
            <a:avLst>
              <a:gd name="adj" fmla="val 6667"/>
            </a:avLst>
          </a:prstGeom>
          <a:solidFill>
            <a:srgbClr val="6D82AF"/>
          </a:solidFill>
          <a:ln>
            <a:solidFill>
              <a:srgbClr val="6D82AF"/>
            </a:solidFill>
          </a:ln>
        </p:spPr>
      </p:sp>
      <p:sp>
        <p:nvSpPr>
          <p:cNvPr id="11" name="Text 9"/>
          <p:cNvSpPr/>
          <p:nvPr/>
        </p:nvSpPr>
        <p:spPr>
          <a:xfrm>
            <a:off x="7241560" y="2852499"/>
            <a:ext cx="14728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8385453" y="2852499"/>
            <a:ext cx="2289334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Design &amp; Prototyping</a:t>
            </a:r>
            <a:endParaRPr lang="en-US" sz="2000" b="1" dirty="0">
              <a:solidFill>
                <a:srgbClr val="6D82AF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85453" y="3149441"/>
            <a:ext cx="5563910" cy="62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Create user-friendly wireframes and interactive prototypes to visualize the app's flow and interactions.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38126" y="3853934"/>
            <a:ext cx="681038" cy="22860"/>
          </a:xfrm>
          <a:prstGeom prst="roundRect">
            <a:avLst>
              <a:gd name="adj" fmla="val 127688"/>
            </a:avLst>
          </a:prstGeom>
          <a:solidFill>
            <a:srgbClr val="6D82AF"/>
          </a:solidFill>
          <a:ln>
            <a:solidFill>
              <a:srgbClr val="6D82AF"/>
            </a:solidFill>
          </a:ln>
        </p:spPr>
      </p:sp>
      <p:sp>
        <p:nvSpPr>
          <p:cNvPr id="15" name="Shape 13"/>
          <p:cNvSpPr/>
          <p:nvPr/>
        </p:nvSpPr>
        <p:spPr>
          <a:xfrm>
            <a:off x="7096304" y="3646527"/>
            <a:ext cx="437793" cy="437793"/>
          </a:xfrm>
          <a:prstGeom prst="roundRect">
            <a:avLst>
              <a:gd name="adj" fmla="val 6667"/>
            </a:avLst>
          </a:prstGeom>
          <a:solidFill>
            <a:srgbClr val="6D82AF"/>
          </a:solidFill>
          <a:ln>
            <a:solidFill>
              <a:srgbClr val="6D82AF"/>
            </a:solidFill>
          </a:ln>
        </p:spPr>
      </p:sp>
      <p:sp>
        <p:nvSpPr>
          <p:cNvPr id="16" name="Text 14"/>
          <p:cNvSpPr/>
          <p:nvPr/>
        </p:nvSpPr>
        <p:spPr>
          <a:xfrm>
            <a:off x="7240369" y="3728085"/>
            <a:ext cx="14954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3006275" y="3704392"/>
            <a:ext cx="3358991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Development &amp; Implementation</a:t>
            </a:r>
            <a:endParaRPr lang="en-US" sz="2000" b="1" dirty="0">
              <a:solidFill>
                <a:srgbClr val="6D82A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1038" y="4025027"/>
            <a:ext cx="5563910" cy="62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Build the app using Swift, adhering to Apple's Human Interface Guidelines for a seamless user experience.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11236" y="4729639"/>
            <a:ext cx="681038" cy="22860"/>
          </a:xfrm>
          <a:prstGeom prst="roundRect">
            <a:avLst>
              <a:gd name="adj" fmla="val 127688"/>
            </a:avLst>
          </a:prstGeom>
          <a:solidFill>
            <a:srgbClr val="6D82AF"/>
          </a:solidFill>
          <a:ln>
            <a:solidFill>
              <a:srgbClr val="6D82AF"/>
            </a:solidFill>
          </a:ln>
        </p:spPr>
      </p:sp>
      <p:sp>
        <p:nvSpPr>
          <p:cNvPr id="20" name="Shape 18"/>
          <p:cNvSpPr/>
          <p:nvPr/>
        </p:nvSpPr>
        <p:spPr>
          <a:xfrm>
            <a:off x="7096304" y="4522232"/>
            <a:ext cx="437793" cy="437793"/>
          </a:xfrm>
          <a:prstGeom prst="roundRect">
            <a:avLst>
              <a:gd name="adj" fmla="val 6667"/>
            </a:avLst>
          </a:prstGeom>
          <a:solidFill>
            <a:srgbClr val="6D82AF"/>
          </a:solidFill>
          <a:ln>
            <a:solidFill>
              <a:srgbClr val="6D82AF"/>
            </a:solidFill>
          </a:ln>
        </p:spPr>
      </p:sp>
      <p:sp>
        <p:nvSpPr>
          <p:cNvPr id="21" name="Text 19"/>
          <p:cNvSpPr/>
          <p:nvPr/>
        </p:nvSpPr>
        <p:spPr>
          <a:xfrm>
            <a:off x="7245370" y="4603790"/>
            <a:ext cx="139541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8385452" y="4556284"/>
            <a:ext cx="2868811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Testing &amp; Quality Assurance</a:t>
            </a:r>
            <a:endParaRPr lang="en-US" sz="2000" b="1" dirty="0">
              <a:solidFill>
                <a:srgbClr val="6D82A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85453" y="4900732"/>
            <a:ext cx="5563910" cy="62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Rigorous testing to ensure functionality, performance, and stability across different iOS devices and versions.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38126" y="5605343"/>
            <a:ext cx="681038" cy="22860"/>
          </a:xfrm>
          <a:prstGeom prst="roundRect">
            <a:avLst>
              <a:gd name="adj" fmla="val 127688"/>
            </a:avLst>
          </a:prstGeom>
          <a:solidFill>
            <a:srgbClr val="6D82AF"/>
          </a:solidFill>
          <a:ln>
            <a:solidFill>
              <a:srgbClr val="6D82AF"/>
            </a:solidFill>
          </a:ln>
        </p:spPr>
      </p:sp>
      <p:sp>
        <p:nvSpPr>
          <p:cNvPr id="25" name="Shape 23"/>
          <p:cNvSpPr/>
          <p:nvPr/>
        </p:nvSpPr>
        <p:spPr>
          <a:xfrm>
            <a:off x="7096304" y="5397937"/>
            <a:ext cx="437793" cy="437793"/>
          </a:xfrm>
          <a:prstGeom prst="roundRect">
            <a:avLst>
              <a:gd name="adj" fmla="val 6667"/>
            </a:avLst>
          </a:prstGeom>
          <a:solidFill>
            <a:srgbClr val="6D82AF"/>
          </a:solidFill>
          <a:ln>
            <a:solidFill>
              <a:srgbClr val="6D82AF"/>
            </a:solidFill>
          </a:ln>
        </p:spPr>
      </p:sp>
      <p:sp>
        <p:nvSpPr>
          <p:cNvPr id="26" name="Text 24"/>
          <p:cNvSpPr/>
          <p:nvPr/>
        </p:nvSpPr>
        <p:spPr>
          <a:xfrm>
            <a:off x="7242155" y="5479494"/>
            <a:ext cx="145971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</a:t>
            </a:r>
            <a:endParaRPr lang="en-US" sz="2150" dirty="0"/>
          </a:p>
        </p:txBody>
      </p:sp>
      <p:sp>
        <p:nvSpPr>
          <p:cNvPr id="27" name="Text 25"/>
          <p:cNvSpPr/>
          <p:nvPr/>
        </p:nvSpPr>
        <p:spPr>
          <a:xfrm>
            <a:off x="3929330" y="5468064"/>
            <a:ext cx="2325291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Deployment &amp; Launch</a:t>
            </a:r>
            <a:endParaRPr lang="en-US" sz="2000" b="1" dirty="0">
              <a:solidFill>
                <a:srgbClr val="6D82AF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1038" y="5776436"/>
            <a:ext cx="5563910" cy="62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Publish the app on the App Store, incorporating marketing strategies for user acquisition.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11236" y="6481048"/>
            <a:ext cx="681038" cy="22860"/>
          </a:xfrm>
          <a:prstGeom prst="roundRect">
            <a:avLst>
              <a:gd name="adj" fmla="val 127688"/>
            </a:avLst>
          </a:prstGeom>
          <a:solidFill>
            <a:srgbClr val="6D82AF"/>
          </a:solidFill>
          <a:ln>
            <a:solidFill>
              <a:srgbClr val="6D82AF"/>
            </a:solidFill>
          </a:ln>
        </p:spPr>
      </p:sp>
      <p:sp>
        <p:nvSpPr>
          <p:cNvPr id="30" name="Shape 28"/>
          <p:cNvSpPr/>
          <p:nvPr/>
        </p:nvSpPr>
        <p:spPr>
          <a:xfrm>
            <a:off x="7096304" y="6273641"/>
            <a:ext cx="437793" cy="437793"/>
          </a:xfrm>
          <a:prstGeom prst="roundRect">
            <a:avLst>
              <a:gd name="adj" fmla="val 6667"/>
            </a:avLst>
          </a:prstGeom>
          <a:solidFill>
            <a:srgbClr val="6D82AF"/>
          </a:solidFill>
          <a:ln>
            <a:solidFill>
              <a:srgbClr val="6D82AF"/>
            </a:solidFill>
          </a:ln>
        </p:spPr>
      </p:sp>
      <p:sp>
        <p:nvSpPr>
          <p:cNvPr id="31" name="Text 29"/>
          <p:cNvSpPr/>
          <p:nvPr/>
        </p:nvSpPr>
        <p:spPr>
          <a:xfrm>
            <a:off x="7240369" y="6355199"/>
            <a:ext cx="14954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</a:t>
            </a:r>
            <a:endParaRPr lang="en-US" sz="2150" dirty="0"/>
          </a:p>
        </p:txBody>
      </p:sp>
      <p:sp>
        <p:nvSpPr>
          <p:cNvPr id="32" name="Text 30"/>
          <p:cNvSpPr/>
          <p:nvPr/>
        </p:nvSpPr>
        <p:spPr>
          <a:xfrm>
            <a:off x="8385453" y="6337994"/>
            <a:ext cx="2471023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Maintenance &amp; Updates</a:t>
            </a:r>
            <a:endParaRPr lang="en-US" sz="2000" b="1" dirty="0">
              <a:solidFill>
                <a:srgbClr val="6D82AF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85453" y="6652141"/>
            <a:ext cx="5563910" cy="62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Continuously monitor app performance, gather user feedback, and release updates to enhance features and address issues.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318A3D6-BF9D-9491-7E7E-A6DBC7CB115B}"/>
              </a:ext>
            </a:extLst>
          </p:cNvPr>
          <p:cNvSpPr/>
          <p:nvPr/>
        </p:nvSpPr>
        <p:spPr>
          <a:xfrm>
            <a:off x="780098" y="612934"/>
            <a:ext cx="7583805" cy="1393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en-US" sz="4350" dirty="0">
                <a:solidFill>
                  <a:srgbClr val="6D82A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Features of the Event Planning App </a:t>
            </a:r>
            <a:endParaRPr lang="en-US" sz="435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F5A918E2-C3D9-68C9-4B35-4041D223BEE4}"/>
              </a:ext>
            </a:extLst>
          </p:cNvPr>
          <p:cNvSpPr/>
          <p:nvPr/>
        </p:nvSpPr>
        <p:spPr>
          <a:xfrm>
            <a:off x="780098" y="2340293"/>
            <a:ext cx="3680460" cy="2354104"/>
          </a:xfrm>
          <a:prstGeom prst="roundRect">
            <a:avLst>
              <a:gd name="adj" fmla="val 1420"/>
            </a:avLst>
          </a:prstGeom>
          <a:solidFill>
            <a:srgbClr val="26262B"/>
          </a:solidFill>
          <a:ln/>
        </p:spPr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53335299-A755-C083-CC8A-64C48DB24E40}"/>
              </a:ext>
            </a:extLst>
          </p:cNvPr>
          <p:cNvSpPr/>
          <p:nvPr/>
        </p:nvSpPr>
        <p:spPr>
          <a:xfrm>
            <a:off x="1002983" y="2571963"/>
            <a:ext cx="3234690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6D82A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Guest List Management</a:t>
            </a:r>
            <a:endParaRPr lang="en-US" sz="2150" dirty="0">
              <a:solidFill>
                <a:srgbClr val="6D82AF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9E1CBC72-15C8-CC8A-5813-CF0D0EAF1479}"/>
              </a:ext>
            </a:extLst>
          </p:cNvPr>
          <p:cNvSpPr/>
          <p:nvPr/>
        </p:nvSpPr>
        <p:spPr>
          <a:xfrm>
            <a:off x="1002983" y="2967087"/>
            <a:ext cx="3234690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Easily add and manage your guest list, track RSVPs, and send personalized invitations.</a:t>
            </a:r>
            <a:endParaRPr lang="en-US" sz="16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8D743D54-C65E-9F13-7644-635A2499E18B}"/>
              </a:ext>
            </a:extLst>
          </p:cNvPr>
          <p:cNvSpPr/>
          <p:nvPr/>
        </p:nvSpPr>
        <p:spPr>
          <a:xfrm>
            <a:off x="5554411" y="2293904"/>
            <a:ext cx="3680460" cy="2354104"/>
          </a:xfrm>
          <a:prstGeom prst="roundRect">
            <a:avLst>
              <a:gd name="adj" fmla="val 1420"/>
            </a:avLst>
          </a:prstGeom>
          <a:solidFill>
            <a:srgbClr val="26262B"/>
          </a:solidFill>
          <a:ln/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5F17D5A-7FF2-9F8E-4948-564CF1E288BC}"/>
              </a:ext>
            </a:extLst>
          </p:cNvPr>
          <p:cNvSpPr/>
          <p:nvPr/>
        </p:nvSpPr>
        <p:spPr>
          <a:xfrm>
            <a:off x="5805039" y="2531098"/>
            <a:ext cx="2949535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6D82A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Calendar Integration</a:t>
            </a:r>
            <a:endParaRPr lang="en-US" sz="2150" dirty="0">
              <a:solidFill>
                <a:srgbClr val="6D82AF"/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F1FC63B2-CA98-B2E7-83A9-962114535510}"/>
              </a:ext>
            </a:extLst>
          </p:cNvPr>
          <p:cNvSpPr/>
          <p:nvPr/>
        </p:nvSpPr>
        <p:spPr>
          <a:xfrm>
            <a:off x="5805039" y="2963433"/>
            <a:ext cx="323469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Synchronize with your calendar to schedule events, set reminders, and avoid scheduling conflicts.</a:t>
            </a:r>
            <a:endParaRPr lang="en-US" sz="16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C2AA7D5F-C432-2BD2-154B-DBE48F72333F}"/>
              </a:ext>
            </a:extLst>
          </p:cNvPr>
          <p:cNvSpPr/>
          <p:nvPr/>
        </p:nvSpPr>
        <p:spPr>
          <a:xfrm>
            <a:off x="780098" y="4917281"/>
            <a:ext cx="3680460" cy="2702362"/>
          </a:xfrm>
          <a:prstGeom prst="roundRect">
            <a:avLst>
              <a:gd name="adj" fmla="val 1237"/>
            </a:avLst>
          </a:prstGeom>
          <a:solidFill>
            <a:srgbClr val="26262B"/>
          </a:solidFill>
          <a:ln/>
        </p:spPr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500B3561-10BF-CB51-F5A3-AE9303B17211}"/>
              </a:ext>
            </a:extLst>
          </p:cNvPr>
          <p:cNvSpPr/>
          <p:nvPr/>
        </p:nvSpPr>
        <p:spPr>
          <a:xfrm>
            <a:off x="1002983" y="5140166"/>
            <a:ext cx="3234690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6D82A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Budgeting and Expense Tracking</a:t>
            </a:r>
            <a:endParaRPr lang="en-US" sz="2150" dirty="0">
              <a:solidFill>
                <a:srgbClr val="6D82AF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0ACA2951-BFD3-F31A-F928-85C556AC4A05}"/>
              </a:ext>
            </a:extLst>
          </p:cNvPr>
          <p:cNvSpPr/>
          <p:nvPr/>
        </p:nvSpPr>
        <p:spPr>
          <a:xfrm>
            <a:off x="1002983" y="5970389"/>
            <a:ext cx="323469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Keep track of your event budget, manage expenses, and receive real-time updates on your spending.</a:t>
            </a:r>
            <a:endParaRPr lang="en-US" sz="175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23D78F39-1D8F-8280-A3A7-88E2B774BCF8}"/>
              </a:ext>
            </a:extLst>
          </p:cNvPr>
          <p:cNvSpPr/>
          <p:nvPr/>
        </p:nvSpPr>
        <p:spPr>
          <a:xfrm>
            <a:off x="5582154" y="4906214"/>
            <a:ext cx="3680460" cy="2702362"/>
          </a:xfrm>
          <a:prstGeom prst="roundRect">
            <a:avLst>
              <a:gd name="adj" fmla="val 1237"/>
            </a:avLst>
          </a:prstGeom>
          <a:solidFill>
            <a:srgbClr val="26262B"/>
          </a:solidFill>
          <a:ln/>
        </p:spPr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626DEF0A-B84B-8B33-FC0F-EB5EEE76448F}"/>
              </a:ext>
            </a:extLst>
          </p:cNvPr>
          <p:cNvSpPr/>
          <p:nvPr/>
        </p:nvSpPr>
        <p:spPr>
          <a:xfrm>
            <a:off x="5805039" y="5140166"/>
            <a:ext cx="2964894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6D82A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Vendor Management</a:t>
            </a:r>
            <a:endParaRPr lang="en-US" sz="2150" dirty="0">
              <a:solidFill>
                <a:srgbClr val="6D82AF"/>
              </a:solidFill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3E3AAEA1-5A6B-419F-6662-ACD0C939AAD8}"/>
              </a:ext>
            </a:extLst>
          </p:cNvPr>
          <p:cNvSpPr/>
          <p:nvPr/>
        </p:nvSpPr>
        <p:spPr>
          <a:xfrm>
            <a:off x="5795204" y="5569206"/>
            <a:ext cx="3439667" cy="2297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6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Connect with vendors, manage contracts, and track payments all within the app.</a:t>
            </a:r>
            <a:r>
              <a:rPr lang="en-US" sz="1600" dirty="0"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>
                <a:ea typeface="DM Sans" pitchFamily="34" charset="-122"/>
                <a:cs typeface="DM Sans" pitchFamily="34" charset="-120"/>
              </a:rPr>
              <a:t>Catering</a:t>
            </a:r>
            <a:r>
              <a:rPr lang="en-US" sz="1400" dirty="0"/>
              <a:t>, </a:t>
            </a:r>
            <a:r>
              <a:rPr lang="en-US" sz="1400" dirty="0">
                <a:ea typeface="DM Sans" pitchFamily="34" charset="-122"/>
                <a:cs typeface="DM Sans" pitchFamily="34" charset="-120"/>
              </a:rPr>
              <a:t>Entertainment, Photography, Floral Design Rental Equipment, Transportation, Decor and Lighting Security.</a:t>
            </a:r>
            <a:endParaRPr lang="en-US" sz="1400" dirty="0"/>
          </a:p>
          <a:p>
            <a:pPr>
              <a:lnSpc>
                <a:spcPts val="2800"/>
              </a:lnSpc>
            </a:pPr>
            <a:endParaRPr lang="en-US" sz="1800" dirty="0"/>
          </a:p>
          <a:p>
            <a:pPr>
              <a:lnSpc>
                <a:spcPts val="2800"/>
              </a:lnSpc>
            </a:pPr>
            <a:endParaRPr lang="en-US" sz="1800" dirty="0"/>
          </a:p>
          <a:p>
            <a:pPr>
              <a:lnSpc>
                <a:spcPts val="2800"/>
              </a:lnSpc>
            </a:pPr>
            <a:endParaRPr lang="en-US" sz="1800" dirty="0"/>
          </a:p>
          <a:p>
            <a:pPr>
              <a:lnSpc>
                <a:spcPts val="2800"/>
              </a:lnSpc>
            </a:pPr>
            <a:endParaRPr lang="en-US" sz="1800" dirty="0"/>
          </a:p>
          <a:p>
            <a:pPr>
              <a:lnSpc>
                <a:spcPts val="2800"/>
              </a:lnSpc>
            </a:pPr>
            <a:endParaRPr lang="en-US" sz="1800" dirty="0"/>
          </a:p>
          <a:p>
            <a:pPr>
              <a:lnSpc>
                <a:spcPts val="2800"/>
              </a:lnSpc>
            </a:pP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238BAA09-0CE2-4361-D270-B530913F4BDF}"/>
              </a:ext>
            </a:extLst>
          </p:cNvPr>
          <p:cNvSpPr/>
          <p:nvPr/>
        </p:nvSpPr>
        <p:spPr>
          <a:xfrm>
            <a:off x="288191" y="2340293"/>
            <a:ext cx="413504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97B8FF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rgbClr val="6D82AF"/>
                </a:solidFill>
              </a:rPr>
              <a:t>1</a:t>
            </a:r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1253A5DA-CA40-2AA6-0F92-883CF972E678}"/>
              </a:ext>
            </a:extLst>
          </p:cNvPr>
          <p:cNvSpPr/>
          <p:nvPr/>
        </p:nvSpPr>
        <p:spPr>
          <a:xfrm>
            <a:off x="5071790" y="2325668"/>
            <a:ext cx="413504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97B8FF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rgbClr val="6D82AF"/>
                </a:solidFill>
              </a:rPr>
              <a:t>2</a:t>
            </a:r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3F0B6425-300F-BD3C-8B15-AD15D02624E5}"/>
              </a:ext>
            </a:extLst>
          </p:cNvPr>
          <p:cNvSpPr/>
          <p:nvPr/>
        </p:nvSpPr>
        <p:spPr>
          <a:xfrm>
            <a:off x="279625" y="4978122"/>
            <a:ext cx="413504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97B8FF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rgbClr val="6D82AF"/>
                </a:solidFill>
              </a:rPr>
              <a:t>3</a:t>
            </a:r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9C25358F-BC06-A38D-FFDC-651EF7ABB7B3}"/>
              </a:ext>
            </a:extLst>
          </p:cNvPr>
          <p:cNvSpPr/>
          <p:nvPr/>
        </p:nvSpPr>
        <p:spPr>
          <a:xfrm>
            <a:off x="5097814" y="4917281"/>
            <a:ext cx="413504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97B8FF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rgbClr val="6D82AF"/>
                </a:solidFill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2F1CBB-9E4C-6299-FCAA-FFE39FE2AEAA}"/>
              </a:ext>
            </a:extLst>
          </p:cNvPr>
          <p:cNvSpPr txBox="1"/>
          <p:nvPr/>
        </p:nvSpPr>
        <p:spPr>
          <a:xfrm>
            <a:off x="3657600" y="39301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81C1350-5A51-A649-27EC-C8B19B786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70805" y="4678"/>
            <a:ext cx="4959595" cy="8229600"/>
          </a:xfrm>
          <a:prstGeom prst="rect">
            <a:avLst/>
          </a:prstGeom>
        </p:spPr>
      </p:pic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E8F8CAC4-F6EF-83FC-FF31-C41BA74B6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0805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426272F-0C8F-1011-C3F2-A60D1DA0B3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A33C873-56D8-272E-DD87-37B39058B1B2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990E484-A1A2-7F45-5476-F81A796F8577}"/>
              </a:ext>
            </a:extLst>
          </p:cNvPr>
          <p:cNvSpPr/>
          <p:nvPr/>
        </p:nvSpPr>
        <p:spPr>
          <a:xfrm>
            <a:off x="864037" y="1423749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6D82A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Types of Events</a:t>
            </a:r>
            <a:endParaRPr lang="en-US" sz="4850" dirty="0">
              <a:solidFill>
                <a:srgbClr val="6D82AF"/>
              </a:solidFill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BAC5DFF-8DB1-51A1-845F-824A1399F9C5}"/>
              </a:ext>
            </a:extLst>
          </p:cNvPr>
          <p:cNvSpPr/>
          <p:nvPr/>
        </p:nvSpPr>
        <p:spPr>
          <a:xfrm>
            <a:off x="869292" y="2821662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6D82AF"/>
          </a:solidFill>
          <a:ln w="15240">
            <a:solidFill>
              <a:srgbClr val="DDD3BA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76E3E58-10A4-3713-57DF-74059554E8D9}"/>
              </a:ext>
            </a:extLst>
          </p:cNvPr>
          <p:cNvSpPr/>
          <p:nvPr/>
        </p:nvSpPr>
        <p:spPr>
          <a:xfrm>
            <a:off x="1059061" y="2935724"/>
            <a:ext cx="165259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chemeClr val="bg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900" dirty="0">
              <a:solidFill>
                <a:schemeClr val="bg2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A2F0F6E-FB06-093F-3636-BEF5900A7ADE}"/>
              </a:ext>
            </a:extLst>
          </p:cNvPr>
          <p:cNvSpPr/>
          <p:nvPr/>
        </p:nvSpPr>
        <p:spPr>
          <a:xfrm>
            <a:off x="1666280" y="2843213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6D82A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Weddings</a:t>
            </a:r>
            <a:endParaRPr lang="en-US" sz="2400" b="1" dirty="0">
              <a:solidFill>
                <a:srgbClr val="6D82AF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4961279-5358-B472-4CDA-8F2F1C3D0CE6}"/>
              </a:ext>
            </a:extLst>
          </p:cNvPr>
          <p:cNvSpPr/>
          <p:nvPr/>
        </p:nvSpPr>
        <p:spPr>
          <a:xfrm>
            <a:off x="1666280" y="3377089"/>
            <a:ext cx="552557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b="1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From intimate ceremonies to grand celebrations, we help create your dream wedding.</a:t>
            </a:r>
            <a:endParaRPr lang="en-US" sz="1900" b="1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22848A4-A1F7-9F5E-BC54-97B2D9D2D424}"/>
              </a:ext>
            </a:extLst>
          </p:cNvPr>
          <p:cNvSpPr/>
          <p:nvPr/>
        </p:nvSpPr>
        <p:spPr>
          <a:xfrm>
            <a:off x="7438668" y="2805736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6D82AF"/>
          </a:solidFill>
          <a:ln w="15240">
            <a:solidFill>
              <a:srgbClr val="DDD3BA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5E34D72-9EBD-A4CE-4BD9-B51D947AE128}"/>
              </a:ext>
            </a:extLst>
          </p:cNvPr>
          <p:cNvSpPr/>
          <p:nvPr/>
        </p:nvSpPr>
        <p:spPr>
          <a:xfrm>
            <a:off x="7602260" y="2935724"/>
            <a:ext cx="228124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chemeClr val="bg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900" dirty="0">
              <a:solidFill>
                <a:schemeClr val="bg2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59E27DA-5B67-B15C-78BB-DBACC731B982}"/>
              </a:ext>
            </a:extLst>
          </p:cNvPr>
          <p:cNvSpPr/>
          <p:nvPr/>
        </p:nvSpPr>
        <p:spPr>
          <a:xfrm>
            <a:off x="8240911" y="2843213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6D82A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Corporate Events</a:t>
            </a:r>
            <a:endParaRPr lang="en-US" sz="2400" b="1" dirty="0">
              <a:solidFill>
                <a:srgbClr val="6D82AF"/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48AD171-B001-4AC9-92F2-86C2F37669F6}"/>
              </a:ext>
            </a:extLst>
          </p:cNvPr>
          <p:cNvSpPr/>
          <p:nvPr/>
        </p:nvSpPr>
        <p:spPr>
          <a:xfrm>
            <a:off x="8240911" y="3377089"/>
            <a:ext cx="552557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b="1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We plan successful conferences, meetings, team-building activities, and product launches.</a:t>
            </a:r>
            <a:endParaRPr lang="en-US" sz="1900" b="1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DA2E919-4CFB-0902-8DBC-59E800EAC383}"/>
              </a:ext>
            </a:extLst>
          </p:cNvPr>
          <p:cNvSpPr/>
          <p:nvPr/>
        </p:nvSpPr>
        <p:spPr>
          <a:xfrm>
            <a:off x="864037" y="5012512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6D82AF"/>
          </a:solidFill>
          <a:ln w="15240">
            <a:solidFill>
              <a:srgbClr val="DDD3BA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50FAF2F-2EDF-798F-650E-6FD8B02DA07C}"/>
              </a:ext>
            </a:extLst>
          </p:cNvPr>
          <p:cNvSpPr/>
          <p:nvPr/>
        </p:nvSpPr>
        <p:spPr>
          <a:xfrm>
            <a:off x="1027628" y="5179219"/>
            <a:ext cx="228124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chemeClr val="bg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900" dirty="0">
              <a:solidFill>
                <a:schemeClr val="bg2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FE0BAB7-FC7F-966D-A205-E83753C98156}"/>
              </a:ext>
            </a:extLst>
          </p:cNvPr>
          <p:cNvSpPr/>
          <p:nvPr/>
        </p:nvSpPr>
        <p:spPr>
          <a:xfrm>
            <a:off x="1666280" y="508670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6D82A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Social Events</a:t>
            </a:r>
            <a:endParaRPr lang="en-US" sz="2400" b="1" dirty="0">
              <a:solidFill>
                <a:srgbClr val="6D82AF"/>
              </a:solidFill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E284C06-028B-0FCD-F98B-8E4231469751}"/>
              </a:ext>
            </a:extLst>
          </p:cNvPr>
          <p:cNvSpPr/>
          <p:nvPr/>
        </p:nvSpPr>
        <p:spPr>
          <a:xfrm>
            <a:off x="1666280" y="5620583"/>
            <a:ext cx="552557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b="1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We organize birthday parties, holiday celebrations, anniversaries, and other special occasions.</a:t>
            </a:r>
            <a:endParaRPr lang="en-US" sz="1900" b="1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50FC800-9464-07A0-FBDA-CDD2687B7A81}"/>
              </a:ext>
            </a:extLst>
          </p:cNvPr>
          <p:cNvSpPr/>
          <p:nvPr/>
        </p:nvSpPr>
        <p:spPr>
          <a:xfrm>
            <a:off x="7438668" y="5012512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6D82AF"/>
          </a:solidFill>
          <a:ln w="15240">
            <a:solidFill>
              <a:srgbClr val="DDD3BA"/>
            </a:solidFill>
            <a:prstDash val="solid"/>
          </a:ln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AED6D1C-633E-02CD-36B4-08903FAEA24F}"/>
              </a:ext>
            </a:extLst>
          </p:cNvPr>
          <p:cNvSpPr/>
          <p:nvPr/>
        </p:nvSpPr>
        <p:spPr>
          <a:xfrm>
            <a:off x="7607975" y="5179219"/>
            <a:ext cx="216694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chemeClr val="bg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900" dirty="0">
              <a:solidFill>
                <a:schemeClr val="bg2"/>
              </a:solidFill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6138131-F31B-C5AB-8215-59B64130C3C1}"/>
              </a:ext>
            </a:extLst>
          </p:cNvPr>
          <p:cNvSpPr/>
          <p:nvPr/>
        </p:nvSpPr>
        <p:spPr>
          <a:xfrm>
            <a:off x="8240911" y="508670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6D82A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Non-profit Events</a:t>
            </a:r>
            <a:endParaRPr lang="en-US" sz="2400" b="1" dirty="0">
              <a:solidFill>
                <a:srgbClr val="6D82AF"/>
              </a:solidFill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806A1A6-C860-7B52-2908-12718311F954}"/>
              </a:ext>
            </a:extLst>
          </p:cNvPr>
          <p:cNvSpPr/>
          <p:nvPr/>
        </p:nvSpPr>
        <p:spPr>
          <a:xfrm>
            <a:off x="8240911" y="5620583"/>
            <a:ext cx="552557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b="1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We support non-profit organizations with fundraising galas, awareness campaigns, and community events.</a:t>
            </a:r>
            <a:endParaRPr lang="en-US" sz="1900" b="1" dirty="0"/>
          </a:p>
        </p:txBody>
      </p:sp>
    </p:spTree>
    <p:extLst>
      <p:ext uri="{BB962C8B-B14F-4D97-AF65-F5344CB8AC3E}">
        <p14:creationId xmlns:p14="http://schemas.microsoft.com/office/powerpoint/2010/main" val="387737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2E6D5F-F586-C489-39BD-DC00C603DB21}"/>
              </a:ext>
            </a:extLst>
          </p:cNvPr>
          <p:cNvSpPr/>
          <p:nvPr/>
        </p:nvSpPr>
        <p:spPr>
          <a:xfrm>
            <a:off x="681157" y="505479"/>
            <a:ext cx="5653087" cy="557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50"/>
              </a:lnSpc>
              <a:buNone/>
            </a:pPr>
            <a:r>
              <a:rPr lang="en-US" sz="3500" dirty="0">
                <a:solidFill>
                  <a:srgbClr val="6D82A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Event Planning Workflow</a:t>
            </a:r>
            <a:endParaRPr lang="en-US" sz="3500" dirty="0">
              <a:solidFill>
                <a:srgbClr val="6D82AF"/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3E79299-4A27-0022-DAE7-BB1326527A5D}"/>
              </a:ext>
            </a:extLst>
          </p:cNvPr>
          <p:cNvSpPr/>
          <p:nvPr/>
        </p:nvSpPr>
        <p:spPr>
          <a:xfrm>
            <a:off x="7303770" y="1405652"/>
            <a:ext cx="22860" cy="6332339"/>
          </a:xfrm>
          <a:prstGeom prst="roundRect">
            <a:avLst>
              <a:gd name="adj" fmla="val 117042"/>
            </a:avLst>
          </a:prstGeom>
          <a:solidFill>
            <a:srgbClr val="6D82AF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F70F93E-04AA-747B-7EBE-858501D05D6F}"/>
              </a:ext>
            </a:extLst>
          </p:cNvPr>
          <p:cNvSpPr/>
          <p:nvPr/>
        </p:nvSpPr>
        <p:spPr>
          <a:xfrm>
            <a:off x="6513195" y="1795463"/>
            <a:ext cx="624245" cy="22860"/>
          </a:xfrm>
          <a:prstGeom prst="roundRect">
            <a:avLst>
              <a:gd name="adj" fmla="val 117042"/>
            </a:avLst>
          </a:prstGeom>
          <a:solidFill>
            <a:srgbClr val="6D82AF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AA6B649-2C0E-140E-8543-1571FC168659}"/>
              </a:ext>
            </a:extLst>
          </p:cNvPr>
          <p:cNvSpPr/>
          <p:nvPr/>
        </p:nvSpPr>
        <p:spPr>
          <a:xfrm>
            <a:off x="7067258" y="1606271"/>
            <a:ext cx="504677" cy="475649"/>
          </a:xfrm>
          <a:prstGeom prst="roundRect">
            <a:avLst>
              <a:gd name="adj" fmla="val 6668"/>
            </a:avLst>
          </a:prstGeom>
          <a:solidFill>
            <a:srgbClr val="6D82AF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033805F-6CEE-8E64-4135-B1C8E35BFCE4}"/>
              </a:ext>
            </a:extLst>
          </p:cNvPr>
          <p:cNvSpPr/>
          <p:nvPr/>
        </p:nvSpPr>
        <p:spPr>
          <a:xfrm>
            <a:off x="7258526" y="1673066"/>
            <a:ext cx="113228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F78DA61-8374-5607-0AF1-0501CF17CCB0}"/>
              </a:ext>
            </a:extLst>
          </p:cNvPr>
          <p:cNvSpPr/>
          <p:nvPr/>
        </p:nvSpPr>
        <p:spPr>
          <a:xfrm>
            <a:off x="4104680" y="1584008"/>
            <a:ext cx="2229564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6D82A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Idea Generation</a:t>
            </a:r>
            <a:endParaRPr lang="en-US" sz="2400" b="1" dirty="0">
              <a:solidFill>
                <a:srgbClr val="6D82AF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7AB1000-4FCF-5D89-6655-6377698F2CC3}"/>
              </a:ext>
            </a:extLst>
          </p:cNvPr>
          <p:cNvSpPr/>
          <p:nvPr/>
        </p:nvSpPr>
        <p:spPr>
          <a:xfrm>
            <a:off x="624245" y="1969651"/>
            <a:ext cx="570999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dirty="0"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Start by brainstorming your event concept, theme, and goals.</a:t>
            </a:r>
            <a:endParaRPr lang="en-US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D0C1590-B61A-32A7-72CA-1C7F24B3A1F1}"/>
              </a:ext>
            </a:extLst>
          </p:cNvPr>
          <p:cNvSpPr/>
          <p:nvPr/>
        </p:nvSpPr>
        <p:spPr>
          <a:xfrm>
            <a:off x="7492960" y="2687241"/>
            <a:ext cx="624245" cy="22860"/>
          </a:xfrm>
          <a:prstGeom prst="roundRect">
            <a:avLst>
              <a:gd name="adj" fmla="val 117042"/>
            </a:avLst>
          </a:prstGeom>
          <a:solidFill>
            <a:srgbClr val="6D82AF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9674D82-C1DC-20BC-E465-948C13527C3D}"/>
              </a:ext>
            </a:extLst>
          </p:cNvPr>
          <p:cNvSpPr/>
          <p:nvPr/>
        </p:nvSpPr>
        <p:spPr>
          <a:xfrm>
            <a:off x="7114580" y="2498050"/>
            <a:ext cx="401241" cy="401241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2387541-8BEB-2457-5BC3-CEDC183E84A1}"/>
              </a:ext>
            </a:extLst>
          </p:cNvPr>
          <p:cNvSpPr/>
          <p:nvPr/>
        </p:nvSpPr>
        <p:spPr>
          <a:xfrm>
            <a:off x="8296156" y="2475786"/>
            <a:ext cx="2614017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6D82A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Guest List &amp; Invitations</a:t>
            </a:r>
            <a:endParaRPr lang="en-US" sz="2400" b="1" dirty="0">
              <a:solidFill>
                <a:srgbClr val="6D82AF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97F49AD-722C-762E-6927-C385BB8ABE33}"/>
              </a:ext>
            </a:extLst>
          </p:cNvPr>
          <p:cNvSpPr/>
          <p:nvPr/>
        </p:nvSpPr>
        <p:spPr>
          <a:xfrm>
            <a:off x="8296156" y="2861429"/>
            <a:ext cx="5709999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Create your guest list, send personalized invitations, and track RSVPs.</a:t>
            </a:r>
            <a:endParaRPr lang="en-US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A886337-7466-B91A-08DE-F161A55595C9}"/>
              </a:ext>
            </a:extLst>
          </p:cNvPr>
          <p:cNvSpPr/>
          <p:nvPr/>
        </p:nvSpPr>
        <p:spPr>
          <a:xfrm>
            <a:off x="6513195" y="3489841"/>
            <a:ext cx="624245" cy="22860"/>
          </a:xfrm>
          <a:prstGeom prst="roundRect">
            <a:avLst>
              <a:gd name="adj" fmla="val 117042"/>
            </a:avLst>
          </a:prstGeom>
          <a:solidFill>
            <a:srgbClr val="6D82AF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5AF3858-D039-90E1-B9B7-2F2DF1BC3A4D}"/>
              </a:ext>
            </a:extLst>
          </p:cNvPr>
          <p:cNvSpPr/>
          <p:nvPr/>
        </p:nvSpPr>
        <p:spPr>
          <a:xfrm>
            <a:off x="4104680" y="3278386"/>
            <a:ext cx="2229564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6D82A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Venue Selection</a:t>
            </a:r>
            <a:endParaRPr lang="en-US" sz="2400" b="1" dirty="0">
              <a:solidFill>
                <a:srgbClr val="6D82AF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0AE8D9B-7032-693C-ED09-9FA68D89A292}"/>
              </a:ext>
            </a:extLst>
          </p:cNvPr>
          <p:cNvSpPr/>
          <p:nvPr/>
        </p:nvSpPr>
        <p:spPr>
          <a:xfrm>
            <a:off x="624245" y="3664029"/>
            <a:ext cx="570999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dirty="0"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Choose a suitable venue that meets your needs and budget.</a:t>
            </a:r>
            <a:endParaRPr lang="en-US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B91AAFD-C230-8105-806E-D2394A960A39}"/>
              </a:ext>
            </a:extLst>
          </p:cNvPr>
          <p:cNvSpPr/>
          <p:nvPr/>
        </p:nvSpPr>
        <p:spPr>
          <a:xfrm>
            <a:off x="7492960" y="4292560"/>
            <a:ext cx="624245" cy="22860"/>
          </a:xfrm>
          <a:prstGeom prst="roundRect">
            <a:avLst>
              <a:gd name="adj" fmla="val 117042"/>
            </a:avLst>
          </a:prstGeom>
          <a:solidFill>
            <a:srgbClr val="6D82AF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5E2957A-3B1D-724E-B331-B03D5379FDFA}"/>
              </a:ext>
            </a:extLst>
          </p:cNvPr>
          <p:cNvSpPr/>
          <p:nvPr/>
        </p:nvSpPr>
        <p:spPr>
          <a:xfrm>
            <a:off x="7227927" y="4170164"/>
            <a:ext cx="174546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2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A6CD246-25CA-38BB-C94F-D93585BEC517}"/>
              </a:ext>
            </a:extLst>
          </p:cNvPr>
          <p:cNvSpPr/>
          <p:nvPr/>
        </p:nvSpPr>
        <p:spPr>
          <a:xfrm>
            <a:off x="8296156" y="4081105"/>
            <a:ext cx="2229564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6D82A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Vendor Booking</a:t>
            </a:r>
            <a:endParaRPr lang="en-US" sz="2400" b="1" dirty="0">
              <a:solidFill>
                <a:srgbClr val="6D82AF"/>
              </a:solidFill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92A021F-F73B-D822-C9C7-E78102E3168B}"/>
              </a:ext>
            </a:extLst>
          </p:cNvPr>
          <p:cNvSpPr/>
          <p:nvPr/>
        </p:nvSpPr>
        <p:spPr>
          <a:xfrm>
            <a:off x="8296156" y="4466749"/>
            <a:ext cx="570999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Connect with vendors, negotiate terms, and secure bookings.</a:t>
            </a:r>
            <a:endParaRPr lang="en-US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6216CA4-8AEA-45DC-D3D6-F0B362EAEF6E}"/>
              </a:ext>
            </a:extLst>
          </p:cNvPr>
          <p:cNvSpPr/>
          <p:nvPr/>
        </p:nvSpPr>
        <p:spPr>
          <a:xfrm>
            <a:off x="6513195" y="5095280"/>
            <a:ext cx="624245" cy="22860"/>
          </a:xfrm>
          <a:prstGeom prst="roundRect">
            <a:avLst>
              <a:gd name="adj" fmla="val 117042"/>
            </a:avLst>
          </a:prstGeom>
          <a:solidFill>
            <a:srgbClr val="6D82AF"/>
          </a:solidFill>
          <a:ln/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B512D01-7C58-C40D-81C9-4CBA0354060A}"/>
              </a:ext>
            </a:extLst>
          </p:cNvPr>
          <p:cNvSpPr/>
          <p:nvPr/>
        </p:nvSpPr>
        <p:spPr>
          <a:xfrm>
            <a:off x="2893695" y="4883825"/>
            <a:ext cx="3440549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6D82A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Budgeting &amp; Expense Tracking</a:t>
            </a:r>
            <a:endParaRPr lang="en-US" sz="2400" b="1" dirty="0">
              <a:solidFill>
                <a:srgbClr val="6D82AF"/>
              </a:solidFill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67EA954-AA73-146C-0289-B6FB4691368B}"/>
              </a:ext>
            </a:extLst>
          </p:cNvPr>
          <p:cNvSpPr/>
          <p:nvPr/>
        </p:nvSpPr>
        <p:spPr>
          <a:xfrm>
            <a:off x="624245" y="5269468"/>
            <a:ext cx="5709999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dirty="0"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Create a detailed budget, track expenses, and stay within your financial limits.</a:t>
            </a:r>
            <a:endParaRPr lang="en-US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1B6E5BB-CBDC-8AF8-75EF-F46CE06924D5}"/>
              </a:ext>
            </a:extLst>
          </p:cNvPr>
          <p:cNvSpPr/>
          <p:nvPr/>
        </p:nvSpPr>
        <p:spPr>
          <a:xfrm>
            <a:off x="7492960" y="5897999"/>
            <a:ext cx="624245" cy="22860"/>
          </a:xfrm>
          <a:prstGeom prst="roundRect">
            <a:avLst>
              <a:gd name="adj" fmla="val 117042"/>
            </a:avLst>
          </a:prstGeom>
          <a:solidFill>
            <a:srgbClr val="6D82AF"/>
          </a:solidFill>
          <a:ln/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78219DD-7053-B7D0-8638-DE8A83D80DC5}"/>
              </a:ext>
            </a:extLst>
          </p:cNvPr>
          <p:cNvSpPr/>
          <p:nvPr/>
        </p:nvSpPr>
        <p:spPr>
          <a:xfrm>
            <a:off x="7114580" y="5708809"/>
            <a:ext cx="401241" cy="401241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B27EC60-C149-39AE-B6A2-63AA6BFFD3B5}"/>
              </a:ext>
            </a:extLst>
          </p:cNvPr>
          <p:cNvSpPr/>
          <p:nvPr/>
        </p:nvSpPr>
        <p:spPr>
          <a:xfrm>
            <a:off x="8296156" y="5686544"/>
            <a:ext cx="2654141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6D82A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Event Day Management</a:t>
            </a:r>
            <a:endParaRPr lang="en-US" sz="2400" b="1" dirty="0">
              <a:solidFill>
                <a:srgbClr val="6D82AF"/>
              </a:solidFill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6410618-EC05-9080-D4FA-DE5E6232949E}"/>
              </a:ext>
            </a:extLst>
          </p:cNvPr>
          <p:cNvSpPr/>
          <p:nvPr/>
        </p:nvSpPr>
        <p:spPr>
          <a:xfrm>
            <a:off x="8296156" y="6072188"/>
            <a:ext cx="5709999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Organize event details, schedule activities, and ensure a smooth execution.</a:t>
            </a:r>
            <a:endParaRPr lang="en-US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F819964-BC2C-1178-A181-544EC3541948}"/>
              </a:ext>
            </a:extLst>
          </p:cNvPr>
          <p:cNvSpPr/>
          <p:nvPr/>
        </p:nvSpPr>
        <p:spPr>
          <a:xfrm>
            <a:off x="6513195" y="6700718"/>
            <a:ext cx="624245" cy="22860"/>
          </a:xfrm>
          <a:prstGeom prst="roundRect">
            <a:avLst>
              <a:gd name="adj" fmla="val 117042"/>
            </a:avLst>
          </a:prstGeom>
          <a:solidFill>
            <a:srgbClr val="6D82AF"/>
          </a:solidFill>
          <a:ln/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6B4A881-F6B6-639A-BDAF-9B88BA25A866}"/>
              </a:ext>
            </a:extLst>
          </p:cNvPr>
          <p:cNvSpPr/>
          <p:nvPr/>
        </p:nvSpPr>
        <p:spPr>
          <a:xfrm>
            <a:off x="7236857" y="6578322"/>
            <a:ext cx="156567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21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9C2D788-4AC3-26BA-C198-4DDB7914AD62}"/>
              </a:ext>
            </a:extLst>
          </p:cNvPr>
          <p:cNvSpPr/>
          <p:nvPr/>
        </p:nvSpPr>
        <p:spPr>
          <a:xfrm>
            <a:off x="3845957" y="6489263"/>
            <a:ext cx="2488287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6D82A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Post-Event Evaluation</a:t>
            </a:r>
            <a:endParaRPr lang="en-US" sz="2400" b="1" dirty="0">
              <a:solidFill>
                <a:srgbClr val="6D82AF"/>
              </a:solidFill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F4CA6D6-7311-6A2F-12FF-0AA82203700E}"/>
              </a:ext>
            </a:extLst>
          </p:cNvPr>
          <p:cNvSpPr/>
          <p:nvPr/>
        </p:nvSpPr>
        <p:spPr>
          <a:xfrm>
            <a:off x="624245" y="6874907"/>
            <a:ext cx="5709999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dirty="0"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Gather feedback from guests, analyze results, and plan for future improvements.</a:t>
            </a:r>
            <a:endParaRPr lang="en-US" dirty="0"/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C36EEB69-1061-8DCE-A581-EC15C46EBF85}"/>
              </a:ext>
            </a:extLst>
          </p:cNvPr>
          <p:cNvSpPr/>
          <p:nvPr/>
        </p:nvSpPr>
        <p:spPr>
          <a:xfrm>
            <a:off x="7054378" y="2427746"/>
            <a:ext cx="504677" cy="475649"/>
          </a:xfrm>
          <a:prstGeom prst="roundRect">
            <a:avLst>
              <a:gd name="adj" fmla="val 6668"/>
            </a:avLst>
          </a:prstGeom>
          <a:solidFill>
            <a:srgbClr val="6D82AF"/>
          </a:solidFill>
          <a:ln/>
        </p:spPr>
        <p:txBody>
          <a:bodyPr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C7E45311-3709-CDCA-EF6A-3319E2B46C9D}"/>
              </a:ext>
            </a:extLst>
          </p:cNvPr>
          <p:cNvSpPr/>
          <p:nvPr/>
        </p:nvSpPr>
        <p:spPr>
          <a:xfrm>
            <a:off x="7054378" y="3304834"/>
            <a:ext cx="504677" cy="475649"/>
          </a:xfrm>
          <a:prstGeom prst="roundRect">
            <a:avLst>
              <a:gd name="adj" fmla="val 6668"/>
            </a:avLst>
          </a:prstGeom>
          <a:solidFill>
            <a:srgbClr val="6D82AF"/>
          </a:solidFill>
          <a:ln/>
        </p:spPr>
        <p:txBody>
          <a:bodyPr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B0A03064-C316-36E7-7B05-12B1D8874441}"/>
              </a:ext>
            </a:extLst>
          </p:cNvPr>
          <p:cNvSpPr/>
          <p:nvPr/>
        </p:nvSpPr>
        <p:spPr>
          <a:xfrm>
            <a:off x="7067258" y="4114800"/>
            <a:ext cx="504677" cy="475649"/>
          </a:xfrm>
          <a:prstGeom prst="roundRect">
            <a:avLst>
              <a:gd name="adj" fmla="val 6668"/>
            </a:avLst>
          </a:prstGeom>
          <a:solidFill>
            <a:srgbClr val="6D82AF"/>
          </a:solidFill>
          <a:ln/>
        </p:spPr>
        <p:txBody>
          <a:bodyPr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46" name="Shape 3">
            <a:extLst>
              <a:ext uri="{FF2B5EF4-FFF2-40B4-BE49-F238E27FC236}">
                <a16:creationId xmlns:a16="http://schemas.microsoft.com/office/drawing/2014/main" id="{50E0A3F4-53E7-0614-7F69-0CD2B84DE4BB}"/>
              </a:ext>
            </a:extLst>
          </p:cNvPr>
          <p:cNvSpPr/>
          <p:nvPr/>
        </p:nvSpPr>
        <p:spPr>
          <a:xfrm>
            <a:off x="7074291" y="6485753"/>
            <a:ext cx="504677" cy="475649"/>
          </a:xfrm>
          <a:prstGeom prst="roundRect">
            <a:avLst>
              <a:gd name="adj" fmla="val 6668"/>
            </a:avLst>
          </a:prstGeom>
          <a:solidFill>
            <a:srgbClr val="6D82AF"/>
          </a:solidFill>
          <a:ln/>
        </p:spPr>
        <p:txBody>
          <a:bodyPr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61F25182-AA9F-134A-E71D-7CF82987523D}"/>
              </a:ext>
            </a:extLst>
          </p:cNvPr>
          <p:cNvSpPr/>
          <p:nvPr/>
        </p:nvSpPr>
        <p:spPr>
          <a:xfrm>
            <a:off x="7054378" y="5697259"/>
            <a:ext cx="504677" cy="475649"/>
          </a:xfrm>
          <a:prstGeom prst="roundRect">
            <a:avLst>
              <a:gd name="adj" fmla="val 6668"/>
            </a:avLst>
          </a:prstGeom>
          <a:solidFill>
            <a:srgbClr val="6D82AF"/>
          </a:solidFill>
          <a:ln/>
        </p:spPr>
        <p:txBody>
          <a:bodyPr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BC593DFE-AA47-A116-087A-993C38F8579A}"/>
              </a:ext>
            </a:extLst>
          </p:cNvPr>
          <p:cNvSpPr/>
          <p:nvPr/>
        </p:nvSpPr>
        <p:spPr>
          <a:xfrm>
            <a:off x="7054378" y="4876303"/>
            <a:ext cx="504677" cy="475649"/>
          </a:xfrm>
          <a:prstGeom prst="roundRect">
            <a:avLst>
              <a:gd name="adj" fmla="val 6668"/>
            </a:avLst>
          </a:prstGeom>
          <a:solidFill>
            <a:srgbClr val="6D82AF"/>
          </a:solidFill>
          <a:ln/>
        </p:spPr>
        <p:txBody>
          <a:bodyPr/>
          <a:lstStyle/>
          <a:p>
            <a:pPr algn="ctr"/>
            <a:r>
              <a:rPr lang="en-IN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87361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7128D16-C5D3-D01E-42F6-55AA9D9AD4B9}"/>
              </a:ext>
            </a:extLst>
          </p:cNvPr>
          <p:cNvCxnSpPr>
            <a:cxnSpLocks/>
          </p:cNvCxnSpPr>
          <p:nvPr/>
        </p:nvCxnSpPr>
        <p:spPr>
          <a:xfrm>
            <a:off x="3831308" y="3964159"/>
            <a:ext cx="0" cy="909524"/>
          </a:xfrm>
          <a:prstGeom prst="line">
            <a:avLst/>
          </a:prstGeom>
          <a:ln w="19050">
            <a:solidFill>
              <a:srgbClr val="6D82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9700A32-7E7B-2C90-63E2-D39C795B59A6}"/>
              </a:ext>
            </a:extLst>
          </p:cNvPr>
          <p:cNvCxnSpPr/>
          <p:nvPr/>
        </p:nvCxnSpPr>
        <p:spPr>
          <a:xfrm>
            <a:off x="967154" y="4114800"/>
            <a:ext cx="0" cy="910378"/>
          </a:xfrm>
          <a:prstGeom prst="line">
            <a:avLst/>
          </a:prstGeom>
          <a:ln w="19050">
            <a:solidFill>
              <a:srgbClr val="6D82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A7C4D56-E177-666C-24D9-C11B8A3B82C5}"/>
              </a:ext>
            </a:extLst>
          </p:cNvPr>
          <p:cNvCxnSpPr>
            <a:cxnSpLocks/>
          </p:cNvCxnSpPr>
          <p:nvPr/>
        </p:nvCxnSpPr>
        <p:spPr>
          <a:xfrm>
            <a:off x="967154" y="2719748"/>
            <a:ext cx="12570438" cy="0"/>
          </a:xfrm>
          <a:prstGeom prst="line">
            <a:avLst/>
          </a:prstGeom>
          <a:ln w="38100">
            <a:solidFill>
              <a:srgbClr val="6D82A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F88C8346-725E-C9A5-7C91-25F268101D93}"/>
              </a:ext>
            </a:extLst>
          </p:cNvPr>
          <p:cNvSpPr/>
          <p:nvPr/>
        </p:nvSpPr>
        <p:spPr>
          <a:xfrm>
            <a:off x="1934308" y="5484383"/>
            <a:ext cx="1359877" cy="1197771"/>
          </a:xfrm>
          <a:prstGeom prst="flowChartConnector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87C959-C1DE-891E-E9E1-519F606BB695}"/>
              </a:ext>
            </a:extLst>
          </p:cNvPr>
          <p:cNvSpPr/>
          <p:nvPr/>
        </p:nvSpPr>
        <p:spPr>
          <a:xfrm>
            <a:off x="1689041" y="6591308"/>
            <a:ext cx="1522985" cy="9495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Provides options for new users to create an account </a:t>
            </a:r>
            <a:endParaRPr lang="en-IN" b="1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4177EB2-DB0F-1934-AFA1-2E8588768563}"/>
              </a:ext>
            </a:extLst>
          </p:cNvPr>
          <p:cNvCxnSpPr/>
          <p:nvPr/>
        </p:nvCxnSpPr>
        <p:spPr>
          <a:xfrm>
            <a:off x="967154" y="2719748"/>
            <a:ext cx="0" cy="910378"/>
          </a:xfrm>
          <a:prstGeom prst="line">
            <a:avLst/>
          </a:prstGeom>
          <a:ln w="38100">
            <a:solidFill>
              <a:srgbClr val="6D82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5FE7838-56BF-F0C6-DBE0-8139959226A3}"/>
              </a:ext>
            </a:extLst>
          </p:cNvPr>
          <p:cNvCxnSpPr/>
          <p:nvPr/>
        </p:nvCxnSpPr>
        <p:spPr>
          <a:xfrm>
            <a:off x="13537592" y="2719748"/>
            <a:ext cx="0" cy="910378"/>
          </a:xfrm>
          <a:prstGeom prst="line">
            <a:avLst/>
          </a:prstGeom>
          <a:ln w="38100">
            <a:solidFill>
              <a:srgbClr val="6D82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B7FE7F2-9E5F-B319-078E-6873BC6BA439}"/>
              </a:ext>
            </a:extLst>
          </p:cNvPr>
          <p:cNvCxnSpPr/>
          <p:nvPr/>
        </p:nvCxnSpPr>
        <p:spPr>
          <a:xfrm>
            <a:off x="2433263" y="2719748"/>
            <a:ext cx="0" cy="910378"/>
          </a:xfrm>
          <a:prstGeom prst="line">
            <a:avLst/>
          </a:prstGeom>
          <a:ln w="38100">
            <a:solidFill>
              <a:srgbClr val="6D82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B9A1685-7A6C-B04B-F257-537F0FDC896E}"/>
              </a:ext>
            </a:extLst>
          </p:cNvPr>
          <p:cNvCxnSpPr>
            <a:cxnSpLocks/>
          </p:cNvCxnSpPr>
          <p:nvPr/>
        </p:nvCxnSpPr>
        <p:spPr>
          <a:xfrm>
            <a:off x="12110074" y="2721759"/>
            <a:ext cx="32139" cy="1999236"/>
          </a:xfrm>
          <a:prstGeom prst="line">
            <a:avLst/>
          </a:prstGeom>
          <a:ln w="38100">
            <a:solidFill>
              <a:srgbClr val="6D82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B010AC-E0CE-4148-5502-415302D5234E}"/>
              </a:ext>
            </a:extLst>
          </p:cNvPr>
          <p:cNvCxnSpPr>
            <a:cxnSpLocks/>
          </p:cNvCxnSpPr>
          <p:nvPr/>
        </p:nvCxnSpPr>
        <p:spPr>
          <a:xfrm>
            <a:off x="10776123" y="2779307"/>
            <a:ext cx="17343" cy="3615656"/>
          </a:xfrm>
          <a:prstGeom prst="line">
            <a:avLst/>
          </a:prstGeom>
          <a:ln w="38100">
            <a:solidFill>
              <a:srgbClr val="6D82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D95908A-25E0-63F9-3234-D0D4363AF58E}"/>
              </a:ext>
            </a:extLst>
          </p:cNvPr>
          <p:cNvCxnSpPr>
            <a:cxnSpLocks/>
          </p:cNvCxnSpPr>
          <p:nvPr/>
        </p:nvCxnSpPr>
        <p:spPr>
          <a:xfrm>
            <a:off x="6565481" y="2693074"/>
            <a:ext cx="0" cy="2358893"/>
          </a:xfrm>
          <a:prstGeom prst="line">
            <a:avLst/>
          </a:prstGeom>
          <a:ln w="38100">
            <a:solidFill>
              <a:srgbClr val="6D82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CC16728-0EA8-CEA7-126E-7657463841B4}"/>
              </a:ext>
            </a:extLst>
          </p:cNvPr>
          <p:cNvCxnSpPr/>
          <p:nvPr/>
        </p:nvCxnSpPr>
        <p:spPr>
          <a:xfrm>
            <a:off x="5211923" y="2693074"/>
            <a:ext cx="0" cy="910378"/>
          </a:xfrm>
          <a:prstGeom prst="line">
            <a:avLst/>
          </a:prstGeom>
          <a:ln w="38100">
            <a:solidFill>
              <a:srgbClr val="6D82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89E2056-C7E2-8221-6EDE-2FFD38BA1032}"/>
              </a:ext>
            </a:extLst>
          </p:cNvPr>
          <p:cNvCxnSpPr/>
          <p:nvPr/>
        </p:nvCxnSpPr>
        <p:spPr>
          <a:xfrm>
            <a:off x="3831308" y="2721759"/>
            <a:ext cx="0" cy="910378"/>
          </a:xfrm>
          <a:prstGeom prst="line">
            <a:avLst/>
          </a:prstGeom>
          <a:ln w="38100">
            <a:solidFill>
              <a:srgbClr val="6D82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26B0E7D-E4B6-A033-90E1-52C8616697E1}"/>
              </a:ext>
            </a:extLst>
          </p:cNvPr>
          <p:cNvCxnSpPr>
            <a:cxnSpLocks/>
          </p:cNvCxnSpPr>
          <p:nvPr/>
        </p:nvCxnSpPr>
        <p:spPr>
          <a:xfrm>
            <a:off x="9348307" y="2721759"/>
            <a:ext cx="15376" cy="2303419"/>
          </a:xfrm>
          <a:prstGeom prst="line">
            <a:avLst/>
          </a:prstGeom>
          <a:ln w="38100">
            <a:solidFill>
              <a:srgbClr val="6D82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FFF1C19-64E4-2759-3FA2-28FC8BCB7573}"/>
              </a:ext>
            </a:extLst>
          </p:cNvPr>
          <p:cNvCxnSpPr>
            <a:cxnSpLocks/>
          </p:cNvCxnSpPr>
          <p:nvPr/>
        </p:nvCxnSpPr>
        <p:spPr>
          <a:xfrm>
            <a:off x="7933899" y="2721759"/>
            <a:ext cx="13374" cy="3825978"/>
          </a:xfrm>
          <a:prstGeom prst="line">
            <a:avLst/>
          </a:prstGeom>
          <a:ln w="38100">
            <a:solidFill>
              <a:srgbClr val="6D82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0">
            <a:extLst>
              <a:ext uri="{FF2B5EF4-FFF2-40B4-BE49-F238E27FC236}">
                <a16:creationId xmlns:a16="http://schemas.microsoft.com/office/drawing/2014/main" id="{C73331E5-4A40-1429-80A1-514DA76FCD25}"/>
              </a:ext>
            </a:extLst>
          </p:cNvPr>
          <p:cNvSpPr/>
          <p:nvPr/>
        </p:nvSpPr>
        <p:spPr>
          <a:xfrm>
            <a:off x="830889" y="1012712"/>
            <a:ext cx="9873607" cy="891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6D82A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Sitemap of the Event Planning App</a:t>
            </a:r>
            <a:endParaRPr lang="en-US" sz="4350" b="1" dirty="0">
              <a:solidFill>
                <a:srgbClr val="6D82AF"/>
              </a:solidFill>
            </a:endParaRPr>
          </a:p>
        </p:txBody>
      </p:sp>
      <p:sp>
        <p:nvSpPr>
          <p:cNvPr id="56" name="Shape 1">
            <a:extLst>
              <a:ext uri="{FF2B5EF4-FFF2-40B4-BE49-F238E27FC236}">
                <a16:creationId xmlns:a16="http://schemas.microsoft.com/office/drawing/2014/main" id="{9E3874FD-258D-68EB-3224-35C186EF8887}"/>
              </a:ext>
            </a:extLst>
          </p:cNvPr>
          <p:cNvSpPr/>
          <p:nvPr/>
        </p:nvSpPr>
        <p:spPr>
          <a:xfrm>
            <a:off x="6347664" y="2141603"/>
            <a:ext cx="483033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noFill/>
            <a:prstDash val="solid"/>
          </a:ln>
        </p:spPr>
        <p:txBody>
          <a:bodyPr/>
          <a:lstStyle/>
          <a:p>
            <a:r>
              <a:rPr lang="en-IN" sz="2400" dirty="0">
                <a:solidFill>
                  <a:srgbClr val="6D82AF"/>
                </a:solidFill>
              </a:rPr>
              <a:t>5</a:t>
            </a:r>
          </a:p>
        </p:txBody>
      </p:sp>
      <p:sp>
        <p:nvSpPr>
          <p:cNvPr id="59" name="Shape 1">
            <a:extLst>
              <a:ext uri="{FF2B5EF4-FFF2-40B4-BE49-F238E27FC236}">
                <a16:creationId xmlns:a16="http://schemas.microsoft.com/office/drawing/2014/main" id="{56EF6892-62D4-2C6D-89EB-628D1361080A}"/>
              </a:ext>
            </a:extLst>
          </p:cNvPr>
          <p:cNvSpPr/>
          <p:nvPr/>
        </p:nvSpPr>
        <p:spPr>
          <a:xfrm>
            <a:off x="2232217" y="2155735"/>
            <a:ext cx="483033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noFill/>
            <a:prstDash val="solid"/>
          </a:ln>
        </p:spPr>
        <p:txBody>
          <a:bodyPr/>
          <a:lstStyle/>
          <a:p>
            <a:r>
              <a:rPr lang="en-IN" sz="2400" dirty="0">
                <a:solidFill>
                  <a:srgbClr val="6D82AF"/>
                </a:solidFill>
              </a:rPr>
              <a:t>2</a:t>
            </a:r>
          </a:p>
        </p:txBody>
      </p:sp>
      <p:sp>
        <p:nvSpPr>
          <p:cNvPr id="60" name="Shape 1">
            <a:extLst>
              <a:ext uri="{FF2B5EF4-FFF2-40B4-BE49-F238E27FC236}">
                <a16:creationId xmlns:a16="http://schemas.microsoft.com/office/drawing/2014/main" id="{E0AF08FD-CAD3-F325-F6CE-927EE4446FD6}"/>
              </a:ext>
            </a:extLst>
          </p:cNvPr>
          <p:cNvSpPr/>
          <p:nvPr/>
        </p:nvSpPr>
        <p:spPr>
          <a:xfrm>
            <a:off x="3622761" y="2141603"/>
            <a:ext cx="483033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noFill/>
            <a:prstDash val="solid"/>
          </a:ln>
        </p:spPr>
        <p:txBody>
          <a:bodyPr/>
          <a:lstStyle/>
          <a:p>
            <a:r>
              <a:rPr lang="en-IN" sz="2400" dirty="0">
                <a:solidFill>
                  <a:srgbClr val="6D82AF"/>
                </a:solidFill>
              </a:rPr>
              <a:t>3</a:t>
            </a:r>
          </a:p>
        </p:txBody>
      </p:sp>
      <p:sp>
        <p:nvSpPr>
          <p:cNvPr id="61" name="Shape 1">
            <a:extLst>
              <a:ext uri="{FF2B5EF4-FFF2-40B4-BE49-F238E27FC236}">
                <a16:creationId xmlns:a16="http://schemas.microsoft.com/office/drawing/2014/main" id="{E8E1D2B6-CD28-3478-DBC2-30FC4E447A39}"/>
              </a:ext>
            </a:extLst>
          </p:cNvPr>
          <p:cNvSpPr/>
          <p:nvPr/>
        </p:nvSpPr>
        <p:spPr>
          <a:xfrm>
            <a:off x="5013395" y="2157017"/>
            <a:ext cx="483033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noFill/>
            <a:prstDash val="solid"/>
          </a:ln>
        </p:spPr>
        <p:txBody>
          <a:bodyPr/>
          <a:lstStyle/>
          <a:p>
            <a:r>
              <a:rPr lang="en-IN" sz="2400" dirty="0">
                <a:solidFill>
                  <a:srgbClr val="6D82AF"/>
                </a:solidFill>
              </a:rPr>
              <a:t>4</a:t>
            </a:r>
          </a:p>
        </p:txBody>
      </p:sp>
      <p:sp>
        <p:nvSpPr>
          <p:cNvPr id="62" name="Shape 1">
            <a:extLst>
              <a:ext uri="{FF2B5EF4-FFF2-40B4-BE49-F238E27FC236}">
                <a16:creationId xmlns:a16="http://schemas.microsoft.com/office/drawing/2014/main" id="{15B179E3-E2F3-C7AC-71A0-5CAC81E4AF73}"/>
              </a:ext>
            </a:extLst>
          </p:cNvPr>
          <p:cNvSpPr/>
          <p:nvPr/>
        </p:nvSpPr>
        <p:spPr>
          <a:xfrm>
            <a:off x="830889" y="2163254"/>
            <a:ext cx="483033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noFill/>
            <a:prstDash val="solid"/>
          </a:ln>
        </p:spPr>
        <p:txBody>
          <a:bodyPr/>
          <a:lstStyle/>
          <a:p>
            <a:r>
              <a:rPr lang="en-IN" sz="2400" dirty="0">
                <a:solidFill>
                  <a:srgbClr val="6D82AF"/>
                </a:solidFill>
              </a:rPr>
              <a:t>1</a:t>
            </a:r>
          </a:p>
        </p:txBody>
      </p:sp>
      <p:sp>
        <p:nvSpPr>
          <p:cNvPr id="63" name="Shape 1">
            <a:extLst>
              <a:ext uri="{FF2B5EF4-FFF2-40B4-BE49-F238E27FC236}">
                <a16:creationId xmlns:a16="http://schemas.microsoft.com/office/drawing/2014/main" id="{093022CC-8F39-F9B0-F99B-B559CD30F280}"/>
              </a:ext>
            </a:extLst>
          </p:cNvPr>
          <p:cNvSpPr/>
          <p:nvPr/>
        </p:nvSpPr>
        <p:spPr>
          <a:xfrm>
            <a:off x="7714508" y="2149888"/>
            <a:ext cx="483033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noFill/>
            <a:prstDash val="solid"/>
          </a:ln>
        </p:spPr>
        <p:txBody>
          <a:bodyPr/>
          <a:lstStyle/>
          <a:p>
            <a:r>
              <a:rPr lang="en-IN" sz="2400" dirty="0">
                <a:solidFill>
                  <a:srgbClr val="6D82AF"/>
                </a:solidFill>
              </a:rPr>
              <a:t>6</a:t>
            </a:r>
          </a:p>
        </p:txBody>
      </p:sp>
      <p:sp>
        <p:nvSpPr>
          <p:cNvPr id="64" name="Shape 1">
            <a:extLst>
              <a:ext uri="{FF2B5EF4-FFF2-40B4-BE49-F238E27FC236}">
                <a16:creationId xmlns:a16="http://schemas.microsoft.com/office/drawing/2014/main" id="{26D91C6A-3194-E28F-7B0A-68827F1AD37A}"/>
              </a:ext>
            </a:extLst>
          </p:cNvPr>
          <p:cNvSpPr/>
          <p:nvPr/>
        </p:nvSpPr>
        <p:spPr>
          <a:xfrm>
            <a:off x="9131407" y="2141603"/>
            <a:ext cx="483033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noFill/>
            <a:prstDash val="solid"/>
          </a:ln>
        </p:spPr>
        <p:txBody>
          <a:bodyPr/>
          <a:lstStyle/>
          <a:p>
            <a:r>
              <a:rPr lang="en-IN" sz="2400" dirty="0">
                <a:solidFill>
                  <a:srgbClr val="6D82AF"/>
                </a:solidFill>
              </a:rPr>
              <a:t>7</a:t>
            </a:r>
          </a:p>
        </p:txBody>
      </p:sp>
      <p:sp>
        <p:nvSpPr>
          <p:cNvPr id="65" name="Shape 1">
            <a:extLst>
              <a:ext uri="{FF2B5EF4-FFF2-40B4-BE49-F238E27FC236}">
                <a16:creationId xmlns:a16="http://schemas.microsoft.com/office/drawing/2014/main" id="{AA811F33-D6AF-3211-B72D-B71B178E7E59}"/>
              </a:ext>
            </a:extLst>
          </p:cNvPr>
          <p:cNvSpPr/>
          <p:nvPr/>
        </p:nvSpPr>
        <p:spPr>
          <a:xfrm>
            <a:off x="10506470" y="2148164"/>
            <a:ext cx="483033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noFill/>
            <a:prstDash val="solid"/>
          </a:ln>
        </p:spPr>
        <p:txBody>
          <a:bodyPr/>
          <a:lstStyle/>
          <a:p>
            <a:r>
              <a:rPr lang="en-IN" sz="2400" dirty="0">
                <a:solidFill>
                  <a:srgbClr val="6D82AF"/>
                </a:solidFill>
              </a:rPr>
              <a:t>8</a:t>
            </a:r>
          </a:p>
        </p:txBody>
      </p:sp>
      <p:sp>
        <p:nvSpPr>
          <p:cNvPr id="66" name="Shape 1">
            <a:extLst>
              <a:ext uri="{FF2B5EF4-FFF2-40B4-BE49-F238E27FC236}">
                <a16:creationId xmlns:a16="http://schemas.microsoft.com/office/drawing/2014/main" id="{69F7F850-54E1-82BD-EC3B-C789B7069761}"/>
              </a:ext>
            </a:extLst>
          </p:cNvPr>
          <p:cNvSpPr/>
          <p:nvPr/>
        </p:nvSpPr>
        <p:spPr>
          <a:xfrm>
            <a:off x="11915150" y="2134827"/>
            <a:ext cx="483033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noFill/>
            <a:prstDash val="solid"/>
          </a:ln>
        </p:spPr>
        <p:txBody>
          <a:bodyPr/>
          <a:lstStyle/>
          <a:p>
            <a:r>
              <a:rPr lang="en-IN" sz="2400" dirty="0">
                <a:solidFill>
                  <a:srgbClr val="6D82AF"/>
                </a:solidFill>
              </a:rPr>
              <a:t>9</a:t>
            </a:r>
          </a:p>
        </p:txBody>
      </p:sp>
      <p:sp>
        <p:nvSpPr>
          <p:cNvPr id="67" name="Shape 1">
            <a:extLst>
              <a:ext uri="{FF2B5EF4-FFF2-40B4-BE49-F238E27FC236}">
                <a16:creationId xmlns:a16="http://schemas.microsoft.com/office/drawing/2014/main" id="{B87EBA86-AA13-906B-309E-9F02FE36CC11}"/>
              </a:ext>
            </a:extLst>
          </p:cNvPr>
          <p:cNvSpPr/>
          <p:nvPr/>
        </p:nvSpPr>
        <p:spPr>
          <a:xfrm>
            <a:off x="13088251" y="2153811"/>
            <a:ext cx="718864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noFill/>
            <a:prstDash val="solid"/>
          </a:ln>
        </p:spPr>
        <p:txBody>
          <a:bodyPr/>
          <a:lstStyle/>
          <a:p>
            <a:r>
              <a:rPr lang="en-IN" sz="2400" dirty="0">
                <a:solidFill>
                  <a:srgbClr val="6D82AF"/>
                </a:solidFill>
              </a:rPr>
              <a:t>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811208D-D128-FE32-00E2-13EBE4982EE3}"/>
              </a:ext>
            </a:extLst>
          </p:cNvPr>
          <p:cNvSpPr txBox="1"/>
          <p:nvPr/>
        </p:nvSpPr>
        <p:spPr>
          <a:xfrm>
            <a:off x="229605" y="5059719"/>
            <a:ext cx="16390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Users log into the app  (email/username and password) or via social logins (Google, Facebook)</a:t>
            </a:r>
            <a:endParaRPr lang="en-IN" sz="12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E42A341-1E9B-DCA4-A5E3-28074C0FB838}"/>
              </a:ext>
            </a:extLst>
          </p:cNvPr>
          <p:cNvSpPr txBox="1"/>
          <p:nvPr/>
        </p:nvSpPr>
        <p:spPr>
          <a:xfrm>
            <a:off x="2823784" y="4901489"/>
            <a:ext cx="2281373" cy="1485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 b="1" dirty="0"/>
              <a:t>Users get an overview of app features and quick links to start or manage events</a:t>
            </a:r>
            <a:r>
              <a:rPr lang="en-US" sz="1100" b="1" dirty="0"/>
              <a:t>.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Buttons like Create Event, Manage Existing Events</a:t>
            </a:r>
            <a:r>
              <a:rPr lang="en-US" altLang="en-US" sz="1050" b="1" dirty="0">
                <a:latin typeface="Arial" panose="020B0604020202020204" pitchFamily="34" charset="0"/>
              </a:rPr>
              <a:t>,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Upcoming event previews, Notifications (RSVPs, deadlines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endParaRPr lang="en-IN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76FBDFB-B875-E872-8723-7F50739098DD}"/>
              </a:ext>
            </a:extLst>
          </p:cNvPr>
          <p:cNvSpPr txBox="1"/>
          <p:nvPr/>
        </p:nvSpPr>
        <p:spPr>
          <a:xfrm>
            <a:off x="4724541" y="6292175"/>
            <a:ext cx="13598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Users can create new events by filling in essential details like event name, date, location, guests, and budget</a:t>
            </a:r>
            <a:endParaRPr lang="en-IN" sz="1200" b="1" dirty="0"/>
          </a:p>
        </p:txBody>
      </p:sp>
      <p:sp>
        <p:nvSpPr>
          <p:cNvPr id="80" name="Rectangle 7">
            <a:extLst>
              <a:ext uri="{FF2B5EF4-FFF2-40B4-BE49-F238E27FC236}">
                <a16:creationId xmlns:a16="http://schemas.microsoft.com/office/drawing/2014/main" id="{0FC4E8AC-07E3-508C-74C5-1F346077DAC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691927" y="4788580"/>
            <a:ext cx="198626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add, organize, and send invites to guests. Send invitations (via email or SMS), Track RSVPs in real-time Guest list.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F1D0035-B47E-794D-1F8F-3A162A02D8A8}"/>
              </a:ext>
            </a:extLst>
          </p:cNvPr>
          <p:cNvSpPr txBox="1"/>
          <p:nvPr/>
        </p:nvSpPr>
        <p:spPr>
          <a:xfrm>
            <a:off x="11444390" y="4733222"/>
            <a:ext cx="17927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A dedicated page to track notifications related to even. </a:t>
            </a:r>
            <a:endParaRPr lang="en-IN" sz="14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6DC3D6F-D594-761C-E8D8-8C92BA4B5CDA}"/>
              </a:ext>
            </a:extLst>
          </p:cNvPr>
          <p:cNvSpPr txBox="1"/>
          <p:nvPr/>
        </p:nvSpPr>
        <p:spPr>
          <a:xfrm>
            <a:off x="12697839" y="5902773"/>
            <a:ext cx="200363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This page shows a final summary of the event after all tasks are complete and budgets are balanced.</a:t>
            </a:r>
            <a:endParaRPr lang="en-IN" sz="1400" b="1" dirty="0"/>
          </a:p>
        </p:txBody>
      </p:sp>
      <p:sp>
        <p:nvSpPr>
          <p:cNvPr id="88" name="Rectangle 9">
            <a:extLst>
              <a:ext uri="{FF2B5EF4-FFF2-40B4-BE49-F238E27FC236}">
                <a16:creationId xmlns:a16="http://schemas.microsoft.com/office/drawing/2014/main" id="{74606A21-1364-CB8F-E31F-6676C84CC2B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009617" y="6386511"/>
            <a:ext cx="1861579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/>
              <a:t>Update events such as RSVP status changes or task deadlines</a:t>
            </a:r>
            <a:r>
              <a:rPr lang="en-US" sz="1800" b="1" dirty="0"/>
              <a:t>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4717340-B292-D535-E906-10E2E6576CB4}"/>
              </a:ext>
            </a:extLst>
          </p:cNvPr>
          <p:cNvSpPr txBox="1"/>
          <p:nvPr/>
        </p:nvSpPr>
        <p:spPr>
          <a:xfrm>
            <a:off x="8466415" y="4991752"/>
            <a:ext cx="22933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Users can track expenses, manage the event budget, and receive financial insights</a:t>
            </a:r>
            <a:r>
              <a:rPr lang="en-US" b="1" dirty="0"/>
              <a:t>.</a:t>
            </a:r>
            <a:endParaRPr lang="en-IN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26C8331-536D-659E-4186-87D65FFAA9FA}"/>
              </a:ext>
            </a:extLst>
          </p:cNvPr>
          <p:cNvSpPr txBox="1"/>
          <p:nvPr/>
        </p:nvSpPr>
        <p:spPr>
          <a:xfrm>
            <a:off x="7143447" y="6505569"/>
            <a:ext cx="21748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Users can assign and manage tasks related to the event, such as catering, decoration, etc.</a:t>
            </a:r>
            <a:endParaRPr lang="en-IN" sz="1400" b="1" dirty="0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69C73410-392D-D0E2-1A23-0CF4F6003A64}"/>
              </a:ext>
            </a:extLst>
          </p:cNvPr>
          <p:cNvSpPr/>
          <p:nvPr/>
        </p:nvSpPr>
        <p:spPr>
          <a:xfrm>
            <a:off x="425955" y="3338620"/>
            <a:ext cx="1250696" cy="1207206"/>
          </a:xfrm>
          <a:prstGeom prst="flowChartConnector">
            <a:avLst/>
          </a:prstGeom>
          <a:solidFill>
            <a:srgbClr val="DEC4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Login Page</a:t>
            </a: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6985424B-9B73-79AD-8BAA-D26A83AA49F1}"/>
              </a:ext>
            </a:extLst>
          </p:cNvPr>
          <p:cNvSpPr/>
          <p:nvPr/>
        </p:nvSpPr>
        <p:spPr>
          <a:xfrm>
            <a:off x="1828081" y="3285116"/>
            <a:ext cx="1203494" cy="1195482"/>
          </a:xfrm>
          <a:prstGeom prst="flowChartConnector">
            <a:avLst/>
          </a:prstGeom>
          <a:solidFill>
            <a:srgbClr val="ACBA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Sign-up</a:t>
            </a: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FFEA9F3B-642E-ED70-1307-F533404920C1}"/>
              </a:ext>
            </a:extLst>
          </p:cNvPr>
          <p:cNvSpPr/>
          <p:nvPr/>
        </p:nvSpPr>
        <p:spPr>
          <a:xfrm>
            <a:off x="3232331" y="3295697"/>
            <a:ext cx="1222086" cy="1174320"/>
          </a:xfrm>
          <a:prstGeom prst="flowChartConnector">
            <a:avLst/>
          </a:prstGeom>
          <a:solidFill>
            <a:srgbClr val="9FE5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solidFill>
                  <a:schemeClr val="bg1"/>
                </a:solidFill>
              </a:rPr>
              <a:t>Home Page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1A09D274-206E-9DBC-62AA-7E3C84DC30AC}"/>
              </a:ext>
            </a:extLst>
          </p:cNvPr>
          <p:cNvSpPr/>
          <p:nvPr/>
        </p:nvSpPr>
        <p:spPr>
          <a:xfrm>
            <a:off x="4647426" y="3321391"/>
            <a:ext cx="1222086" cy="1174320"/>
          </a:xfrm>
          <a:prstGeom prst="flowChartConnector">
            <a:avLst/>
          </a:prstGeom>
          <a:solidFill>
            <a:srgbClr val="DEDA8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solidFill>
                  <a:schemeClr val="bg1"/>
                </a:solidFill>
              </a:rPr>
              <a:t>Event Creation</a:t>
            </a: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CD135AC3-E144-6B7C-500B-43CF25EF7714}"/>
              </a:ext>
            </a:extLst>
          </p:cNvPr>
          <p:cNvSpPr/>
          <p:nvPr/>
        </p:nvSpPr>
        <p:spPr>
          <a:xfrm>
            <a:off x="5977269" y="3322804"/>
            <a:ext cx="1222086" cy="1174320"/>
          </a:xfrm>
          <a:prstGeom prst="flowChartConnector">
            <a:avLst/>
          </a:prstGeom>
          <a:solidFill>
            <a:srgbClr val="C793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solidFill>
                  <a:schemeClr val="bg1"/>
                </a:solidFill>
              </a:rPr>
              <a:t>Guest Management</a:t>
            </a: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C5C10BCF-8118-03A8-6117-F99289210B0A}"/>
              </a:ext>
            </a:extLst>
          </p:cNvPr>
          <p:cNvSpPr/>
          <p:nvPr/>
        </p:nvSpPr>
        <p:spPr>
          <a:xfrm>
            <a:off x="7373052" y="3271707"/>
            <a:ext cx="1222086" cy="1174320"/>
          </a:xfrm>
          <a:prstGeom prst="flowChartConnector">
            <a:avLst/>
          </a:prstGeom>
          <a:solidFill>
            <a:srgbClr val="DEC4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solidFill>
                  <a:schemeClr val="bg1"/>
                </a:solidFill>
              </a:rPr>
              <a:t>Task Management</a:t>
            </a: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FC0719C3-5A10-2E5B-1B17-DFE5CCF4A8BC}"/>
              </a:ext>
            </a:extLst>
          </p:cNvPr>
          <p:cNvSpPr/>
          <p:nvPr/>
        </p:nvSpPr>
        <p:spPr>
          <a:xfrm>
            <a:off x="8752640" y="3241836"/>
            <a:ext cx="1222086" cy="1174320"/>
          </a:xfrm>
          <a:prstGeom prst="flowChartConnector">
            <a:avLst/>
          </a:prstGeom>
          <a:solidFill>
            <a:srgbClr val="DEDA8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solidFill>
                  <a:schemeClr val="bg1"/>
                </a:solidFill>
              </a:rPr>
              <a:t>Budget Tracking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5AC0C804-58FB-E8C9-7901-DED20B641A38}"/>
              </a:ext>
            </a:extLst>
          </p:cNvPr>
          <p:cNvSpPr/>
          <p:nvPr/>
        </p:nvSpPr>
        <p:spPr>
          <a:xfrm>
            <a:off x="10182423" y="3256167"/>
            <a:ext cx="1222086" cy="1174320"/>
          </a:xfrm>
          <a:prstGeom prst="flowChartConnector">
            <a:avLst/>
          </a:prstGeom>
          <a:solidFill>
            <a:srgbClr val="97B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solidFill>
                  <a:schemeClr val="bg1"/>
                </a:solidFill>
              </a:rPr>
              <a:t>Updates events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264CAD23-1283-27A7-D7B4-E6617D7EBE4D}"/>
              </a:ext>
            </a:extLst>
          </p:cNvPr>
          <p:cNvSpPr/>
          <p:nvPr/>
        </p:nvSpPr>
        <p:spPr>
          <a:xfrm>
            <a:off x="11524194" y="3211220"/>
            <a:ext cx="1236039" cy="1174320"/>
          </a:xfrm>
          <a:prstGeom prst="flowChartConnector">
            <a:avLst/>
          </a:prstGeom>
          <a:solidFill>
            <a:srgbClr val="9FE5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solidFill>
                  <a:schemeClr val="bg1"/>
                </a:solidFill>
              </a:rPr>
              <a:t>Notification</a:t>
            </a: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A86E37F9-38F4-D6F8-A850-CA8A636E9591}"/>
              </a:ext>
            </a:extLst>
          </p:cNvPr>
          <p:cNvSpPr/>
          <p:nvPr/>
        </p:nvSpPr>
        <p:spPr>
          <a:xfrm>
            <a:off x="12908046" y="3255176"/>
            <a:ext cx="1316223" cy="1147639"/>
          </a:xfrm>
          <a:prstGeom prst="flowChartConnector">
            <a:avLst/>
          </a:prstGeom>
          <a:solidFill>
            <a:srgbClr val="ACBA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Completion Page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A056051-6879-2E5D-9701-C6F676FE1BA5}"/>
              </a:ext>
            </a:extLst>
          </p:cNvPr>
          <p:cNvCxnSpPr>
            <a:cxnSpLocks/>
          </p:cNvCxnSpPr>
          <p:nvPr/>
        </p:nvCxnSpPr>
        <p:spPr>
          <a:xfrm>
            <a:off x="2429828" y="4495711"/>
            <a:ext cx="0" cy="2186443"/>
          </a:xfrm>
          <a:prstGeom prst="line">
            <a:avLst/>
          </a:prstGeom>
          <a:ln w="19050">
            <a:solidFill>
              <a:srgbClr val="6D82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03CE3DB-46ED-B93A-7F0E-A0ECF4816D4A}"/>
              </a:ext>
            </a:extLst>
          </p:cNvPr>
          <p:cNvCxnSpPr>
            <a:cxnSpLocks/>
          </p:cNvCxnSpPr>
          <p:nvPr/>
        </p:nvCxnSpPr>
        <p:spPr>
          <a:xfrm>
            <a:off x="5237327" y="4500060"/>
            <a:ext cx="0" cy="1725942"/>
          </a:xfrm>
          <a:prstGeom prst="line">
            <a:avLst/>
          </a:prstGeom>
          <a:ln w="19050">
            <a:solidFill>
              <a:srgbClr val="6D82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89A8DBF-8081-9445-7C6E-E2D58EC2AF92}"/>
              </a:ext>
            </a:extLst>
          </p:cNvPr>
          <p:cNvCxnSpPr>
            <a:cxnSpLocks/>
          </p:cNvCxnSpPr>
          <p:nvPr/>
        </p:nvCxnSpPr>
        <p:spPr>
          <a:xfrm>
            <a:off x="13566157" y="4402815"/>
            <a:ext cx="0" cy="148773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975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07455" y="645438"/>
            <a:ext cx="5617488" cy="689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Technical Architecture</a:t>
            </a:r>
            <a:endParaRPr lang="en-US" sz="4300" dirty="0">
              <a:solidFill>
                <a:srgbClr val="6D82AF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6307455" y="1687235"/>
            <a:ext cx="3633668" cy="2831187"/>
          </a:xfrm>
          <a:prstGeom prst="roundRect">
            <a:avLst>
              <a:gd name="adj" fmla="val 1243"/>
            </a:avLst>
          </a:prstGeom>
          <a:solidFill>
            <a:srgbClr val="000000"/>
          </a:solidFill>
          <a:ln w="38100">
            <a:solidFill>
              <a:srgbClr val="6D82AF"/>
            </a:solidFill>
          </a:ln>
        </p:spPr>
      </p:sp>
      <p:sp>
        <p:nvSpPr>
          <p:cNvPr id="5" name="Text 2"/>
          <p:cNvSpPr/>
          <p:nvPr/>
        </p:nvSpPr>
        <p:spPr>
          <a:xfrm>
            <a:off x="6542008" y="1921788"/>
            <a:ext cx="275998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User Interface (UI)</a:t>
            </a:r>
            <a:endParaRPr lang="en-US" sz="2150" b="1" dirty="0">
              <a:solidFill>
                <a:srgbClr val="6D82AF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542008" y="2407444"/>
            <a:ext cx="3164562" cy="150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Built using Swift, providing a modern and responsive user interface </a:t>
            </a:r>
            <a:r>
              <a:rPr lang="en-US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by using Xcode and stimulator for developing ,testing and debugging</a:t>
            </a: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175677" y="1687235"/>
            <a:ext cx="3633668" cy="2831187"/>
          </a:xfrm>
          <a:prstGeom prst="roundRect">
            <a:avLst>
              <a:gd name="adj" fmla="val 1243"/>
            </a:avLst>
          </a:prstGeom>
          <a:solidFill>
            <a:srgbClr val="000000"/>
          </a:solidFill>
          <a:ln w="38100">
            <a:solidFill>
              <a:srgbClr val="6D82AF"/>
            </a:solidFill>
          </a:ln>
        </p:spPr>
      </p:sp>
      <p:sp>
        <p:nvSpPr>
          <p:cNvPr id="8" name="Text 5"/>
          <p:cNvSpPr/>
          <p:nvPr/>
        </p:nvSpPr>
        <p:spPr>
          <a:xfrm>
            <a:off x="10410230" y="1921788"/>
            <a:ext cx="275998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Business Logic</a:t>
            </a:r>
            <a:endParaRPr lang="en-US" sz="2150" b="1" dirty="0">
              <a:solidFill>
                <a:srgbClr val="6D82AF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0410230" y="2407444"/>
            <a:ext cx="3164562" cy="1876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Handles core application logic, including event creation, data validation, and interaction with backend services.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307455" y="4752975"/>
            <a:ext cx="3633668" cy="2831187"/>
          </a:xfrm>
          <a:prstGeom prst="roundRect">
            <a:avLst>
              <a:gd name="adj" fmla="val 1243"/>
            </a:avLst>
          </a:prstGeom>
          <a:solidFill>
            <a:srgbClr val="000000"/>
          </a:solidFill>
          <a:ln w="28575">
            <a:solidFill>
              <a:srgbClr val="6D82AF"/>
            </a:solidFill>
          </a:ln>
        </p:spPr>
      </p:sp>
      <p:sp>
        <p:nvSpPr>
          <p:cNvPr id="11" name="Text 8"/>
          <p:cNvSpPr/>
          <p:nvPr/>
        </p:nvSpPr>
        <p:spPr>
          <a:xfrm>
            <a:off x="6542008" y="4987528"/>
            <a:ext cx="275998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Access Layer</a:t>
            </a:r>
            <a:endParaRPr lang="en-US" sz="2150" b="1" dirty="0">
              <a:solidFill>
                <a:srgbClr val="6D82AF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6542008" y="5473184"/>
            <a:ext cx="3164562" cy="150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Manages communication with data storage, including local database (Core Data) and remote cloud databases.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175677" y="4752975"/>
            <a:ext cx="3633668" cy="2831187"/>
          </a:xfrm>
          <a:prstGeom prst="roundRect">
            <a:avLst>
              <a:gd name="adj" fmla="val 1243"/>
            </a:avLst>
          </a:prstGeom>
          <a:solidFill>
            <a:srgbClr val="000000"/>
          </a:solidFill>
          <a:ln w="38100">
            <a:solidFill>
              <a:srgbClr val="6D82AF"/>
            </a:solidFill>
          </a:ln>
        </p:spPr>
      </p:sp>
      <p:sp>
        <p:nvSpPr>
          <p:cNvPr id="14" name="Text 11"/>
          <p:cNvSpPr/>
          <p:nvPr/>
        </p:nvSpPr>
        <p:spPr>
          <a:xfrm>
            <a:off x="10410230" y="4987528"/>
            <a:ext cx="275998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Backend Services</a:t>
            </a:r>
            <a:endParaRPr lang="en-US" sz="2150" b="1" dirty="0">
              <a:solidFill>
                <a:srgbClr val="6D82AF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410230" y="5473184"/>
            <a:ext cx="3164562" cy="1876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Cloud-based services (Firebase, AWS) for user authentication, data synchronization, and push notifications.</a:t>
            </a:r>
            <a:endParaRPr lang="en-US" sz="1800" dirty="0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785B8E16-2CD6-162F-0FDA-987F395F1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13555" cy="8229600"/>
          </a:xfrm>
          <a:prstGeom prst="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CA30D716-EE3A-B3AE-5807-E3376C5050B3}"/>
              </a:ext>
            </a:extLst>
          </p:cNvPr>
          <p:cNvSpPr/>
          <p:nvPr/>
        </p:nvSpPr>
        <p:spPr>
          <a:xfrm>
            <a:off x="10644783" y="-1853058"/>
            <a:ext cx="275998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2150" b="1" dirty="0">
              <a:solidFill>
                <a:srgbClr val="6D82AF"/>
              </a:solidFill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C644B910-88A7-648F-ED14-B971C61715B3}"/>
              </a:ext>
            </a:extLst>
          </p:cNvPr>
          <p:cNvSpPr/>
          <p:nvPr/>
        </p:nvSpPr>
        <p:spPr>
          <a:xfrm>
            <a:off x="10644783" y="-1367402"/>
            <a:ext cx="3164562" cy="150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endParaRPr lang="en-US" sz="18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C065CF5F-5594-17F0-32C2-5CA221B1B4D1}"/>
              </a:ext>
            </a:extLst>
          </p:cNvPr>
          <p:cNvSpPr/>
          <p:nvPr/>
        </p:nvSpPr>
        <p:spPr>
          <a:xfrm>
            <a:off x="6694408" y="-2025520"/>
            <a:ext cx="275998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2150" b="1" dirty="0">
              <a:solidFill>
                <a:srgbClr val="6D82AF"/>
              </a:solidFill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7083984C-8E89-76FD-94DC-FBCC7EA55294}"/>
              </a:ext>
            </a:extLst>
          </p:cNvPr>
          <p:cNvSpPr/>
          <p:nvPr/>
        </p:nvSpPr>
        <p:spPr>
          <a:xfrm>
            <a:off x="6694408" y="-1539864"/>
            <a:ext cx="3164562" cy="150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endParaRPr lang="en-US" sz="18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F3FD9E05-FC11-3417-7B01-746225FA7256}"/>
              </a:ext>
            </a:extLst>
          </p:cNvPr>
          <p:cNvSpPr/>
          <p:nvPr/>
        </p:nvSpPr>
        <p:spPr>
          <a:xfrm>
            <a:off x="3145751" y="-2052548"/>
            <a:ext cx="3164562" cy="150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endParaRPr lang="en-US" sz="18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9E4136F7-091C-1E01-0B1A-14D51B39314B}"/>
              </a:ext>
            </a:extLst>
          </p:cNvPr>
          <p:cNvSpPr/>
          <p:nvPr/>
        </p:nvSpPr>
        <p:spPr>
          <a:xfrm>
            <a:off x="252174" y="-2450305"/>
            <a:ext cx="275998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2150" b="1" dirty="0">
              <a:solidFill>
                <a:srgbClr val="6D82AF"/>
              </a:solidFill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146B6D42-58FB-0CC6-1D8F-44D180E9B47F}"/>
              </a:ext>
            </a:extLst>
          </p:cNvPr>
          <p:cNvSpPr/>
          <p:nvPr/>
        </p:nvSpPr>
        <p:spPr>
          <a:xfrm>
            <a:off x="252174" y="-1964649"/>
            <a:ext cx="3164562" cy="150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endParaRPr lang="en-US" sz="18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16D90AF9-3261-7C0C-A168-405FE58F23BC}"/>
              </a:ext>
            </a:extLst>
          </p:cNvPr>
          <p:cNvSpPr/>
          <p:nvPr/>
        </p:nvSpPr>
        <p:spPr>
          <a:xfrm>
            <a:off x="15099506" y="676365"/>
            <a:ext cx="275998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2150" b="1" dirty="0">
              <a:solidFill>
                <a:srgbClr val="6D82AF"/>
              </a:solidFill>
            </a:endParaRPr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FFFFAA42-DECF-07DD-DD5E-C7BCF10D7B97}"/>
              </a:ext>
            </a:extLst>
          </p:cNvPr>
          <p:cNvSpPr/>
          <p:nvPr/>
        </p:nvSpPr>
        <p:spPr>
          <a:xfrm>
            <a:off x="15099506" y="1162021"/>
            <a:ext cx="3164562" cy="150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10938A4C-F76D-A0CB-2209-2EB04F1B7D81}"/>
              </a:ext>
            </a:extLst>
          </p:cNvPr>
          <p:cNvSpPr/>
          <p:nvPr/>
        </p:nvSpPr>
        <p:spPr>
          <a:xfrm>
            <a:off x="461843" y="1275278"/>
            <a:ext cx="8220313" cy="3166586"/>
          </a:xfrm>
          <a:prstGeom prst="roundRect">
            <a:avLst>
              <a:gd name="adj" fmla="val 175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F2B0253-B309-65F1-7B25-01828F7B8021}"/>
              </a:ext>
            </a:extLst>
          </p:cNvPr>
          <p:cNvSpPr/>
          <p:nvPr/>
        </p:nvSpPr>
        <p:spPr>
          <a:xfrm>
            <a:off x="506134" y="1282898"/>
            <a:ext cx="8204240" cy="3845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E3227F0-2F14-2B32-7A87-9A9E301F3F48}"/>
              </a:ext>
            </a:extLst>
          </p:cNvPr>
          <p:cNvSpPr/>
          <p:nvPr/>
        </p:nvSpPr>
        <p:spPr>
          <a:xfrm>
            <a:off x="514588" y="1369695"/>
            <a:ext cx="2466737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6D82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Table Name</a:t>
            </a:r>
            <a:endParaRPr lang="en-US" sz="2000" b="1" dirty="0">
              <a:solidFill>
                <a:srgbClr val="6D82AF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D725C5D-7A56-B99B-7354-A3E476A20898}"/>
              </a:ext>
            </a:extLst>
          </p:cNvPr>
          <p:cNvSpPr/>
          <p:nvPr/>
        </p:nvSpPr>
        <p:spPr>
          <a:xfrm>
            <a:off x="3340656" y="1369695"/>
            <a:ext cx="2462927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6D82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Columns</a:t>
            </a:r>
            <a:endParaRPr lang="en-US" sz="2000" b="1" dirty="0">
              <a:solidFill>
                <a:srgbClr val="6D82AF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8285398-FB18-BDC6-AA3B-7E10C074D6EB}"/>
              </a:ext>
            </a:extLst>
          </p:cNvPr>
          <p:cNvSpPr/>
          <p:nvPr/>
        </p:nvSpPr>
        <p:spPr>
          <a:xfrm>
            <a:off x="6075045" y="1369695"/>
            <a:ext cx="2466737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6D82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Relationships</a:t>
            </a:r>
            <a:endParaRPr lang="en-US" sz="2000" b="1" dirty="0">
              <a:solidFill>
                <a:srgbClr val="6D82AF"/>
              </a:solidFill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62DB247-5865-03F4-12A1-8F0781CC16C7}"/>
              </a:ext>
            </a:extLst>
          </p:cNvPr>
          <p:cNvSpPr/>
          <p:nvPr/>
        </p:nvSpPr>
        <p:spPr>
          <a:xfrm>
            <a:off x="469463" y="1667470"/>
            <a:ext cx="8204240" cy="59555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6802C7E-60D0-8773-8F1C-B75A0F8E1DCB}"/>
              </a:ext>
            </a:extLst>
          </p:cNvPr>
          <p:cNvSpPr/>
          <p:nvPr/>
        </p:nvSpPr>
        <p:spPr>
          <a:xfrm>
            <a:off x="602456" y="1754267"/>
            <a:ext cx="2466737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Events</a:t>
            </a:r>
            <a:endParaRPr lang="en-US" sz="16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F95831F-FB2B-EE80-FAA5-759FD3BDB11E}"/>
              </a:ext>
            </a:extLst>
          </p:cNvPr>
          <p:cNvSpPr/>
          <p:nvPr/>
        </p:nvSpPr>
        <p:spPr>
          <a:xfrm>
            <a:off x="3340656" y="1754267"/>
            <a:ext cx="2462927" cy="42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 ID, Name, Date, Time, Location, Budget, Description</a:t>
            </a:r>
            <a:endParaRPr lang="en-US" sz="14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FEC0CE4-A832-E1DD-2A07-5A3D060528CF}"/>
              </a:ext>
            </a:extLst>
          </p:cNvPr>
          <p:cNvSpPr/>
          <p:nvPr/>
        </p:nvSpPr>
        <p:spPr>
          <a:xfrm>
            <a:off x="6075045" y="1754267"/>
            <a:ext cx="2466737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One-to-many with Users, 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Tasks, Expenses</a:t>
            </a:r>
            <a:endParaRPr lang="en-US" sz="14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187D030-BF04-E30A-36C6-B92B5E7407BE}"/>
              </a:ext>
            </a:extLst>
          </p:cNvPr>
          <p:cNvSpPr/>
          <p:nvPr/>
        </p:nvSpPr>
        <p:spPr>
          <a:xfrm>
            <a:off x="469463" y="2263021"/>
            <a:ext cx="8204240" cy="3845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7113616-5792-323E-A2BA-2811B378A3CC}"/>
              </a:ext>
            </a:extLst>
          </p:cNvPr>
          <p:cNvSpPr/>
          <p:nvPr/>
        </p:nvSpPr>
        <p:spPr>
          <a:xfrm>
            <a:off x="602456" y="2349818"/>
            <a:ext cx="2466737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</a:t>
            </a:r>
            <a:endParaRPr lang="en-US" sz="16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71A73D4-F295-2190-2B3C-A5CF518B7725}"/>
              </a:ext>
            </a:extLst>
          </p:cNvPr>
          <p:cNvSpPr/>
          <p:nvPr/>
        </p:nvSpPr>
        <p:spPr>
          <a:xfrm>
            <a:off x="3340656" y="2349818"/>
            <a:ext cx="2462927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ID, Email, Password, Name</a:t>
            </a:r>
            <a:endParaRPr lang="en-US" sz="14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E3BD457-3EA9-5041-04F8-3875A2539588}"/>
              </a:ext>
            </a:extLst>
          </p:cNvPr>
          <p:cNvSpPr/>
          <p:nvPr/>
        </p:nvSpPr>
        <p:spPr>
          <a:xfrm>
            <a:off x="6075045" y="2349818"/>
            <a:ext cx="2466737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One-to-many with Events</a:t>
            </a:r>
            <a:endParaRPr lang="en-US" sz="14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6DEFF314-2D67-2F00-DBF1-34CDB3746BFA}"/>
              </a:ext>
            </a:extLst>
          </p:cNvPr>
          <p:cNvSpPr/>
          <p:nvPr/>
        </p:nvSpPr>
        <p:spPr>
          <a:xfrm>
            <a:off x="469463" y="2647593"/>
            <a:ext cx="8204240" cy="59555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B49F7B0-DA10-FEA3-FC67-C57A2BF32F21}"/>
              </a:ext>
            </a:extLst>
          </p:cNvPr>
          <p:cNvSpPr/>
          <p:nvPr/>
        </p:nvSpPr>
        <p:spPr>
          <a:xfrm>
            <a:off x="602456" y="2734389"/>
            <a:ext cx="2466737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Guests</a:t>
            </a:r>
            <a:endParaRPr lang="en-US" sz="1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B70E4E0-DAB2-9D0E-7F7D-B5BA4BCEA784}"/>
              </a:ext>
            </a:extLst>
          </p:cNvPr>
          <p:cNvSpPr/>
          <p:nvPr/>
        </p:nvSpPr>
        <p:spPr>
          <a:xfrm>
            <a:off x="3340656" y="2734389"/>
            <a:ext cx="2462927" cy="42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Guest ID, Event ID, Name, Email, RSVP Status</a:t>
            </a:r>
            <a:endParaRPr lang="en-US" sz="14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1A83009-54EB-C0AB-22F2-7A705AB50D7E}"/>
              </a:ext>
            </a:extLst>
          </p:cNvPr>
          <p:cNvSpPr/>
          <p:nvPr/>
        </p:nvSpPr>
        <p:spPr>
          <a:xfrm>
            <a:off x="6075045" y="2734389"/>
            <a:ext cx="2466737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Many-to-one with Events</a:t>
            </a:r>
            <a:endParaRPr lang="en-US" sz="14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D49994C9-8A29-E60B-B695-1E6B514BC596}"/>
              </a:ext>
            </a:extLst>
          </p:cNvPr>
          <p:cNvSpPr/>
          <p:nvPr/>
        </p:nvSpPr>
        <p:spPr>
          <a:xfrm>
            <a:off x="469463" y="3243143"/>
            <a:ext cx="8204240" cy="59555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4B09021-D5D5-36BA-BDE7-725CFEA7579A}"/>
              </a:ext>
            </a:extLst>
          </p:cNvPr>
          <p:cNvSpPr/>
          <p:nvPr/>
        </p:nvSpPr>
        <p:spPr>
          <a:xfrm>
            <a:off x="602456" y="3329940"/>
            <a:ext cx="2466737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Tasks</a:t>
            </a:r>
            <a:endParaRPr lang="en-US" sz="16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BB1A989-6557-19D8-881B-B831907B9BE6}"/>
              </a:ext>
            </a:extLst>
          </p:cNvPr>
          <p:cNvSpPr/>
          <p:nvPr/>
        </p:nvSpPr>
        <p:spPr>
          <a:xfrm>
            <a:off x="3340656" y="3329940"/>
            <a:ext cx="2462927" cy="42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 ID, Event ID, Description, Deadline, Status</a:t>
            </a:r>
            <a:endParaRPr lang="en-US" sz="14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CBC6072A-B2C2-1E7F-EA2E-0BB3CC5667C8}"/>
              </a:ext>
            </a:extLst>
          </p:cNvPr>
          <p:cNvSpPr/>
          <p:nvPr/>
        </p:nvSpPr>
        <p:spPr>
          <a:xfrm>
            <a:off x="6075045" y="3329940"/>
            <a:ext cx="2466737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Many-to-one with Events</a:t>
            </a:r>
            <a:endParaRPr lang="en-US" sz="14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4CFAF1A4-34D2-EC09-4E6D-5E393833D25C}"/>
              </a:ext>
            </a:extLst>
          </p:cNvPr>
          <p:cNvSpPr/>
          <p:nvPr/>
        </p:nvSpPr>
        <p:spPr>
          <a:xfrm>
            <a:off x="469463" y="3838694"/>
            <a:ext cx="8204240" cy="59555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D84C7B81-23A7-4CA5-BC6A-CE7A78969717}"/>
              </a:ext>
            </a:extLst>
          </p:cNvPr>
          <p:cNvSpPr/>
          <p:nvPr/>
        </p:nvSpPr>
        <p:spPr>
          <a:xfrm>
            <a:off x="602456" y="3925491"/>
            <a:ext cx="2466737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</a:t>
            </a:r>
            <a:endParaRPr lang="en-US" sz="16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CE4811F-D636-B306-622C-7C38733E92CF}"/>
              </a:ext>
            </a:extLst>
          </p:cNvPr>
          <p:cNvSpPr/>
          <p:nvPr/>
        </p:nvSpPr>
        <p:spPr>
          <a:xfrm>
            <a:off x="3340656" y="3925491"/>
            <a:ext cx="2462927" cy="42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Expense ID, Event ID, Category, Amount, Date</a:t>
            </a:r>
            <a:endParaRPr lang="en-US" sz="14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F1EBBCB-8099-2B8D-8D15-8DE98F6A87E6}"/>
              </a:ext>
            </a:extLst>
          </p:cNvPr>
          <p:cNvSpPr/>
          <p:nvPr/>
        </p:nvSpPr>
        <p:spPr>
          <a:xfrm>
            <a:off x="6075045" y="3925491"/>
            <a:ext cx="2466737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Many-to-one with Events</a:t>
            </a:r>
            <a:endParaRPr lang="en-US" sz="140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9F7D6734-300D-16BD-5C02-4D4EDB1F527B}"/>
              </a:ext>
            </a:extLst>
          </p:cNvPr>
          <p:cNvSpPr/>
          <p:nvPr/>
        </p:nvSpPr>
        <p:spPr>
          <a:xfrm>
            <a:off x="461843" y="4738568"/>
            <a:ext cx="296823" cy="296823"/>
          </a:xfrm>
          <a:prstGeom prst="roundRect">
            <a:avLst>
              <a:gd name="adj" fmla="val 18673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47857779-FE26-EDF2-CE9D-F6591348EE0D}"/>
              </a:ext>
            </a:extLst>
          </p:cNvPr>
          <p:cNvSpPr/>
          <p:nvPr/>
        </p:nvSpPr>
        <p:spPr>
          <a:xfrm>
            <a:off x="581263" y="4787979"/>
            <a:ext cx="57864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2800" dirty="0">
                <a:solidFill>
                  <a:srgbClr val="E5E0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8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0F489066-401C-9CB1-CF4D-A716727CAFA8}"/>
              </a:ext>
            </a:extLst>
          </p:cNvPr>
          <p:cNvSpPr/>
          <p:nvPr/>
        </p:nvSpPr>
        <p:spPr>
          <a:xfrm>
            <a:off x="890587" y="4738568"/>
            <a:ext cx="1649492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Data Storage</a:t>
            </a:r>
            <a:endParaRPr lang="en-US" sz="20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FEDAB911-EA41-13D5-FE1F-4D9D2D0C29F6}"/>
              </a:ext>
            </a:extLst>
          </p:cNvPr>
          <p:cNvSpPr/>
          <p:nvPr/>
        </p:nvSpPr>
        <p:spPr>
          <a:xfrm>
            <a:off x="890587" y="5023842"/>
            <a:ext cx="7791569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Data framework for efficient storage of event details, guest information.</a:t>
            </a:r>
          </a:p>
          <a:p>
            <a:pPr marL="0" indent="0">
              <a:lnSpc>
                <a:spcPts val="1650"/>
              </a:lnSpc>
              <a:buNone/>
            </a:pPr>
            <a:endParaRPr lang="en-US" sz="1600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>
              <a:lnSpc>
                <a:spcPts val="1650"/>
              </a:lnSpc>
              <a:buNone/>
            </a:pPr>
            <a:endParaRPr lang="en-US" sz="160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8F1EF34C-6C85-F53B-1EB5-A1EAD787BFA5}"/>
              </a:ext>
            </a:extLst>
          </p:cNvPr>
          <p:cNvSpPr/>
          <p:nvPr/>
        </p:nvSpPr>
        <p:spPr>
          <a:xfrm>
            <a:off x="461843" y="5515094"/>
            <a:ext cx="296823" cy="296823"/>
          </a:xfrm>
          <a:prstGeom prst="roundRect">
            <a:avLst>
              <a:gd name="adj" fmla="val 18673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B4A8D80B-9057-64D9-68C3-B4A103DE2CF4}"/>
              </a:ext>
            </a:extLst>
          </p:cNvPr>
          <p:cNvSpPr/>
          <p:nvPr/>
        </p:nvSpPr>
        <p:spPr>
          <a:xfrm>
            <a:off x="553641" y="5564505"/>
            <a:ext cx="113228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2800" dirty="0">
                <a:solidFill>
                  <a:srgbClr val="E5E0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8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8126F1B-70CE-4C3D-D2BA-98716D0281A6}"/>
              </a:ext>
            </a:extLst>
          </p:cNvPr>
          <p:cNvSpPr/>
          <p:nvPr/>
        </p:nvSpPr>
        <p:spPr>
          <a:xfrm>
            <a:off x="890587" y="5515094"/>
            <a:ext cx="1649492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 Sync</a:t>
            </a:r>
            <a:endParaRPr lang="en-US" sz="20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269B0D0E-570F-6113-17F3-1C89C17BA4F6}"/>
              </a:ext>
            </a:extLst>
          </p:cNvPr>
          <p:cNvSpPr/>
          <p:nvPr/>
        </p:nvSpPr>
        <p:spPr>
          <a:xfrm>
            <a:off x="890587" y="5800368"/>
            <a:ext cx="7791569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data synchronization using Firebase or AWS, ensuring data consistency.</a:t>
            </a:r>
            <a:endParaRPr lang="en-US" sz="160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2E970105-DC5C-7947-101A-EF249BDB5218}"/>
              </a:ext>
            </a:extLst>
          </p:cNvPr>
          <p:cNvSpPr/>
          <p:nvPr/>
        </p:nvSpPr>
        <p:spPr>
          <a:xfrm>
            <a:off x="461843" y="6291620"/>
            <a:ext cx="296823" cy="296823"/>
          </a:xfrm>
          <a:prstGeom prst="roundRect">
            <a:avLst>
              <a:gd name="adj" fmla="val 18673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C0F7BD3E-A444-5387-7065-C5AEE6802392}"/>
              </a:ext>
            </a:extLst>
          </p:cNvPr>
          <p:cNvSpPr/>
          <p:nvPr/>
        </p:nvSpPr>
        <p:spPr>
          <a:xfrm>
            <a:off x="552331" y="6341031"/>
            <a:ext cx="115848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2800" dirty="0">
                <a:solidFill>
                  <a:srgbClr val="E5E0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80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99161280-71BC-C986-1F8F-668A56CAD5BB}"/>
              </a:ext>
            </a:extLst>
          </p:cNvPr>
          <p:cNvSpPr/>
          <p:nvPr/>
        </p:nvSpPr>
        <p:spPr>
          <a:xfrm>
            <a:off x="890587" y="6291620"/>
            <a:ext cx="1649492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Security</a:t>
            </a:r>
            <a:endParaRPr lang="en-US" sz="200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D4D4FF76-697A-DC80-4499-DEE48396AE3B}"/>
              </a:ext>
            </a:extLst>
          </p:cNvPr>
          <p:cNvSpPr/>
          <p:nvPr/>
        </p:nvSpPr>
        <p:spPr>
          <a:xfrm>
            <a:off x="890587" y="6576893"/>
            <a:ext cx="7791569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encryption and authentication protocols, to protect user data.</a:t>
            </a:r>
            <a:endParaRPr lang="en-US" sz="1600" dirty="0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F98B24B9-0AA8-1652-E169-57D8C9B06955}"/>
              </a:ext>
            </a:extLst>
          </p:cNvPr>
          <p:cNvSpPr/>
          <p:nvPr/>
        </p:nvSpPr>
        <p:spPr>
          <a:xfrm>
            <a:off x="461843" y="7068145"/>
            <a:ext cx="296823" cy="296823"/>
          </a:xfrm>
          <a:prstGeom prst="roundRect">
            <a:avLst>
              <a:gd name="adj" fmla="val 18673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E7A312AA-4837-377F-1465-292264F0A9C1}"/>
              </a:ext>
            </a:extLst>
          </p:cNvPr>
          <p:cNvSpPr/>
          <p:nvPr/>
        </p:nvSpPr>
        <p:spPr>
          <a:xfrm>
            <a:off x="549593" y="7117556"/>
            <a:ext cx="121325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2800" dirty="0">
                <a:solidFill>
                  <a:srgbClr val="E5E0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800" dirty="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F1C8229E-0F65-6886-8E6F-DC555EE0D9E7}"/>
              </a:ext>
            </a:extLst>
          </p:cNvPr>
          <p:cNvSpPr/>
          <p:nvPr/>
        </p:nvSpPr>
        <p:spPr>
          <a:xfrm>
            <a:off x="890587" y="7068145"/>
            <a:ext cx="2004774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Backup &amp; Recovery</a:t>
            </a:r>
            <a:endParaRPr lang="en-US" sz="2000" dirty="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232B4399-41F6-9FB4-CFDC-BB80E3B2A8D9}"/>
              </a:ext>
            </a:extLst>
          </p:cNvPr>
          <p:cNvSpPr/>
          <p:nvPr/>
        </p:nvSpPr>
        <p:spPr>
          <a:xfrm>
            <a:off x="890587" y="7353419"/>
            <a:ext cx="7791569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 backups and data recovery mechanisms to prevent data loss and ensure data integrity.</a:t>
            </a:r>
            <a:endParaRPr lang="en-US" sz="16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BB7CE4E-A6F7-35A8-6B65-C603490432A7}"/>
              </a:ext>
            </a:extLst>
          </p:cNvPr>
          <p:cNvSpPr/>
          <p:nvPr/>
        </p:nvSpPr>
        <p:spPr>
          <a:xfrm>
            <a:off x="385821" y="436423"/>
            <a:ext cx="9855459" cy="606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6D82A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Database Design and Data Management</a:t>
            </a:r>
            <a:endParaRPr lang="en-US" sz="3800" b="1" dirty="0">
              <a:solidFill>
                <a:srgbClr val="6D82AF"/>
              </a:solidFill>
            </a:endParaRPr>
          </a:p>
        </p:txBody>
      </p:sp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DA74018D-229A-27F3-8827-E7532CFE3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7880" y="0"/>
            <a:ext cx="492252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03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9ECD670-DA19-3816-95F5-466DE1AE772D}"/>
              </a:ext>
            </a:extLst>
          </p:cNvPr>
          <p:cNvSpPr/>
          <p:nvPr/>
        </p:nvSpPr>
        <p:spPr>
          <a:xfrm>
            <a:off x="5086707" y="0"/>
            <a:ext cx="3829406" cy="82296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AE5DFB9-C4BC-4EC6-75C8-B34A20CF899A}"/>
              </a:ext>
            </a:extLst>
          </p:cNvPr>
          <p:cNvSpPr/>
          <p:nvPr/>
        </p:nvSpPr>
        <p:spPr>
          <a:xfrm>
            <a:off x="6155958" y="1087696"/>
            <a:ext cx="8123258" cy="132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6D82A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User Interface and User Experience</a:t>
            </a:r>
            <a:endParaRPr lang="en-US" sz="4150" b="1" dirty="0">
              <a:solidFill>
                <a:srgbClr val="6D82AF"/>
              </a:solidFill>
            </a:endParaRPr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40E6646C-4570-7BE6-5094-182150731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29350" y="2398395"/>
            <a:ext cx="530662" cy="53066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7C4C042C-F360-9A16-72B1-F3227AB74482}"/>
              </a:ext>
            </a:extLst>
          </p:cNvPr>
          <p:cNvSpPr/>
          <p:nvPr/>
        </p:nvSpPr>
        <p:spPr>
          <a:xfrm>
            <a:off x="6229350" y="3141226"/>
            <a:ext cx="2845594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Saira" pitchFamily="34" charset="0"/>
                <a:ea typeface="Saira" pitchFamily="34" charset="-122"/>
                <a:cs typeface="Saira" pitchFamily="34" charset="-120"/>
              </a:rPr>
              <a:t>Intuitive Calendar View</a:t>
            </a:r>
            <a:endParaRPr lang="en-US" sz="2050" b="1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D1D76DE-A0A5-200B-8950-249FB0B37445}"/>
              </a:ext>
            </a:extLst>
          </p:cNvPr>
          <p:cNvSpPr/>
          <p:nvPr/>
        </p:nvSpPr>
        <p:spPr>
          <a:xfrm>
            <a:off x="6229350" y="3600212"/>
            <a:ext cx="3669863" cy="101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Roboto" pitchFamily="34" charset="0"/>
                <a:ea typeface="Roboto" pitchFamily="34" charset="-122"/>
                <a:cs typeface="Roboto" pitchFamily="34" charset="-120"/>
              </a:rPr>
              <a:t>A visually appealing calendar interface for creating and viewing events, with clear color-coding and event details.</a:t>
            </a:r>
            <a:endParaRPr lang="en-US" sz="165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AD8DC5E3-B4AC-D187-6FE4-95E097E539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17587" y="2398395"/>
            <a:ext cx="530662" cy="530662"/>
          </a:xfrm>
          <a:prstGeom prst="rect">
            <a:avLst/>
          </a:prstGeom>
          <a:ln>
            <a:noFill/>
          </a:ln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4629C545-B0AB-34FD-80E6-ADF843E732B5}"/>
              </a:ext>
            </a:extLst>
          </p:cNvPr>
          <p:cNvSpPr/>
          <p:nvPr/>
        </p:nvSpPr>
        <p:spPr>
          <a:xfrm>
            <a:off x="10217587" y="3141226"/>
            <a:ext cx="3280410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Saira" pitchFamily="34" charset="0"/>
                <a:ea typeface="Saira" pitchFamily="34" charset="-122"/>
                <a:cs typeface="Saira" pitchFamily="34" charset="-120"/>
              </a:rPr>
              <a:t>Task Management System</a:t>
            </a:r>
            <a:endParaRPr lang="en-US" sz="2050" b="1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8268326-CEE8-27DA-040B-A54F869647C3}"/>
              </a:ext>
            </a:extLst>
          </p:cNvPr>
          <p:cNvSpPr/>
          <p:nvPr/>
        </p:nvSpPr>
        <p:spPr>
          <a:xfrm>
            <a:off x="10217587" y="3600212"/>
            <a:ext cx="3669863" cy="101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Roboto" pitchFamily="34" charset="0"/>
                <a:ea typeface="Roboto" pitchFamily="34" charset="-122"/>
                <a:cs typeface="Roboto" pitchFamily="34" charset="-120"/>
              </a:rPr>
              <a:t>A task list for managing event-related tasks with deadlines and progress indicators.</a:t>
            </a:r>
            <a:endParaRPr lang="en-US" sz="1650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D4A45BE4-53D0-7547-AA68-C98A98208A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29350" y="5255657"/>
            <a:ext cx="530662" cy="530662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D40ABC2E-9432-283F-EE3D-3667A7FD3C4A}"/>
              </a:ext>
            </a:extLst>
          </p:cNvPr>
          <p:cNvSpPr/>
          <p:nvPr/>
        </p:nvSpPr>
        <p:spPr>
          <a:xfrm>
            <a:off x="6229350" y="5998488"/>
            <a:ext cx="2686764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Saira" pitchFamily="34" charset="0"/>
                <a:ea typeface="Saira" pitchFamily="34" charset="-122"/>
                <a:cs typeface="Saira" pitchFamily="34" charset="-120"/>
              </a:rPr>
              <a:t>Visual Budget Tracker</a:t>
            </a:r>
            <a:endParaRPr lang="en-US" sz="2050" b="1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FC9A2B7F-24F0-959F-E1E5-AB12EC9E6547}"/>
              </a:ext>
            </a:extLst>
          </p:cNvPr>
          <p:cNvSpPr/>
          <p:nvPr/>
        </p:nvSpPr>
        <p:spPr>
          <a:xfrm>
            <a:off x="6229350" y="6457474"/>
            <a:ext cx="3669863" cy="101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Roboto" pitchFamily="34" charset="0"/>
                <a:ea typeface="Roboto" pitchFamily="34" charset="-122"/>
                <a:cs typeface="Roboto" pitchFamily="34" charset="-120"/>
              </a:rPr>
              <a:t>A visual representation of the budget, displaying spending against the allocated amount.</a:t>
            </a:r>
            <a:endParaRPr lang="en-US" sz="165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C3DB9F30-41DE-71AF-4B77-C133BFC142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17587" y="5255657"/>
            <a:ext cx="530662" cy="530662"/>
          </a:xfrm>
          <a:prstGeom prst="rect">
            <a:avLst/>
          </a:prstGeom>
          <a:ln>
            <a:noFill/>
          </a:ln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3C7D6700-725D-49E7-193A-9ED1053BF5A4}"/>
              </a:ext>
            </a:extLst>
          </p:cNvPr>
          <p:cNvSpPr/>
          <p:nvPr/>
        </p:nvSpPr>
        <p:spPr>
          <a:xfrm>
            <a:off x="10217587" y="5998488"/>
            <a:ext cx="2924175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Saira" pitchFamily="34" charset="0"/>
                <a:ea typeface="Saira" pitchFamily="34" charset="-122"/>
                <a:cs typeface="Saira" pitchFamily="34" charset="-120"/>
              </a:rPr>
              <a:t>Guest List Management</a:t>
            </a:r>
            <a:endParaRPr lang="en-US" sz="2050" b="1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9999BF1F-82A5-51DB-1FB3-CA752FB06B0E}"/>
              </a:ext>
            </a:extLst>
          </p:cNvPr>
          <p:cNvSpPr/>
          <p:nvPr/>
        </p:nvSpPr>
        <p:spPr>
          <a:xfrm>
            <a:off x="10217587" y="6457474"/>
            <a:ext cx="3669863" cy="101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Roboto" pitchFamily="34" charset="0"/>
                <a:ea typeface="Roboto" pitchFamily="34" charset="-122"/>
                <a:cs typeface="Roboto" pitchFamily="34" charset="-120"/>
              </a:rPr>
              <a:t>A dedicated section for managing guest lists, sending invitations, and tracking RSVPs.</a:t>
            </a:r>
            <a:endParaRPr lang="en-US" sz="1650" dirty="0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FD367F49-E978-90F0-1454-22DDF68E42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821" y="-5239"/>
            <a:ext cx="5486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82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46538" y="702421"/>
            <a:ext cx="8995410" cy="672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Integrations and Third-Party Services</a:t>
            </a:r>
            <a:endParaRPr lang="en-US" sz="4200" dirty="0">
              <a:solidFill>
                <a:srgbClr val="6D82AF"/>
              </a:solidFill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3593" y="1974139"/>
            <a:ext cx="571381" cy="57138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94887" y="2040996"/>
            <a:ext cx="268914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Calendar Integration</a:t>
            </a:r>
            <a:endParaRPr lang="en-US" sz="2100" b="1" dirty="0">
              <a:solidFill>
                <a:srgbClr val="6D82AF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2194887" y="2423283"/>
            <a:ext cx="30004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Seamless integration with iOS Calendar to schedule events and send invitations to guests.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3592" y="4869910"/>
            <a:ext cx="571381" cy="57138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94887" y="4867754"/>
            <a:ext cx="268914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Location Services</a:t>
            </a:r>
            <a:endParaRPr lang="en-US" sz="2100" b="1" dirty="0">
              <a:solidFill>
                <a:srgbClr val="6D82AF"/>
              </a:solidFill>
            </a:endParaRPr>
          </a:p>
        </p:txBody>
      </p:sp>
      <p:sp>
        <p:nvSpPr>
          <p:cNvPr id="9" name="Text 4"/>
          <p:cNvSpPr/>
          <p:nvPr/>
        </p:nvSpPr>
        <p:spPr>
          <a:xfrm>
            <a:off x="2194887" y="5417596"/>
            <a:ext cx="30004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Map integration to easily add event locations, share directions, and allow guests to find the venue.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33942" y="2048679"/>
            <a:ext cx="571381" cy="57138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97583" y="2020638"/>
            <a:ext cx="268914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Payment Gateway</a:t>
            </a:r>
            <a:endParaRPr lang="en-US" sz="2100" b="1" dirty="0">
              <a:solidFill>
                <a:srgbClr val="6D82AF"/>
              </a:solidFill>
            </a:endParaRPr>
          </a:p>
        </p:txBody>
      </p:sp>
      <p:sp>
        <p:nvSpPr>
          <p:cNvPr id="12" name="Text 6"/>
          <p:cNvSpPr/>
          <p:nvPr/>
        </p:nvSpPr>
        <p:spPr>
          <a:xfrm>
            <a:off x="8197583" y="2482518"/>
            <a:ext cx="30004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Secure integration with payment gateways like Stripe or PayPal for handling event payments and contributions.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33941" y="4846215"/>
            <a:ext cx="571381" cy="57138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97583" y="4885371"/>
            <a:ext cx="268914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Email &amp; Messaging</a:t>
            </a:r>
            <a:endParaRPr lang="en-US" sz="2100" b="1" dirty="0">
              <a:solidFill>
                <a:srgbClr val="6D82AF"/>
              </a:solidFill>
            </a:endParaRPr>
          </a:p>
        </p:txBody>
      </p:sp>
      <p:sp>
        <p:nvSpPr>
          <p:cNvPr id="15" name="Text 8"/>
          <p:cNvSpPr/>
          <p:nvPr/>
        </p:nvSpPr>
        <p:spPr>
          <a:xfrm>
            <a:off x="8197583" y="5401834"/>
            <a:ext cx="300061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Integration with email and messaging services for sending event notifications, reminders, and updates to guests.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24124" y="3008709"/>
            <a:ext cx="6800255" cy="704017"/>
          </a:xfrm>
          <a:prstGeom prst="rect">
            <a:avLst/>
          </a:prstGeom>
          <a:solidFill>
            <a:srgbClr val="000000"/>
          </a:solidFill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6D82A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Conclusion and Next Steps</a:t>
            </a:r>
            <a:endParaRPr lang="en-US" sz="4400" b="1" dirty="0">
              <a:solidFill>
                <a:srgbClr val="6D82AF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324124" y="4071698"/>
            <a:ext cx="7468553" cy="177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This iOS event planning app will revolutionize how users plan and manage their events. Future development includes adding features for catering, RSVP management, and collaborative planning. I will focus on improving user experience.</a:t>
            </a:r>
            <a:endParaRPr lang="en-US" dirty="0">
              <a:solidFill>
                <a:srgbClr val="F9EEE7"/>
              </a:solidFill>
              <a:latin typeface="Quattrocento" pitchFamily="34" charset="0"/>
              <a:ea typeface="Quattrocento" pitchFamily="34" charset="-122"/>
              <a:cs typeface="Quattrocento" pitchFamily="34" charset="-120"/>
            </a:endParaRPr>
          </a:p>
          <a:p>
            <a:pPr marL="0" indent="0">
              <a:lnSpc>
                <a:spcPts val="3000"/>
              </a:lnSpc>
              <a:buNone/>
            </a:pPr>
            <a:endParaRPr lang="en-US" sz="18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3C12C84-DA7E-B417-0432-3C3421DA6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54040" cy="8316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551</TotalTime>
  <Words>1142</Words>
  <Application>Microsoft Office PowerPoint</Application>
  <PresentationFormat>Custom</PresentationFormat>
  <Paragraphs>175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Quattrocento</vt:lpstr>
      <vt:lpstr>Noto Sans TC</vt:lpstr>
      <vt:lpstr>Calibri</vt:lpstr>
      <vt:lpstr>Roboto</vt:lpstr>
      <vt:lpstr>Saira</vt:lpstr>
      <vt:lpstr>Arial</vt:lpstr>
      <vt:lpstr>DM Sans</vt:lpstr>
      <vt:lpstr>Calibri Light</vt:lpstr>
      <vt:lpstr>Sora</vt:lpstr>
      <vt:lpstr>Source Sans Pro</vt:lpstr>
      <vt:lpstr>Poppins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priyanka pal</cp:lastModifiedBy>
  <cp:revision>3</cp:revision>
  <dcterms:created xsi:type="dcterms:W3CDTF">2024-09-23T04:12:23Z</dcterms:created>
  <dcterms:modified xsi:type="dcterms:W3CDTF">2024-10-03T04:28:41Z</dcterms:modified>
</cp:coreProperties>
</file>